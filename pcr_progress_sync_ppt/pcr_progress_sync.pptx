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NotesMaster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  <p:embeddedFontLst>
    <p:embeddedFont>
      <p:font typeface="LXGW Neo XiHei"/>
      <p:regular r:id="rIdFont1"/>
    </p:embeddedFont>
  </p:embeddedFontLst>
  <p:defaultTextStyle>
    <a:defPPr>
      <a:defRPr lang="zh-CN">
        <a:latin typeface="Microsoft YaHei"/>
        <a:ea typeface="Microsoft YaHei"/>
        <a:cs typeface="Microsoft YaHei"/>
      </a:defRPr>
    </a:defPPr>
  </p:defaultTextStyle>
  <p:title>PCR 项目组内进度同步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NotesMaster" Type="http://schemas.openxmlformats.org/officeDocument/2006/relationships/notesMaster" Target="notesMasters/notesMaster1.xml"/><Relationship Id="rIdFont1" Type="http://schemas.openxmlformats.org/officeDocument/2006/relationships/font" Target="fonts/font1.fntdata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  <p:sp>
        <p:nvSpPr>
          <p:cNvPr id="4" name="幻灯片图像占位符 3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先讲结论：项目的代码和离线验证已经形成工程骨架，车辆基础栈和小尺度路线已经有实机结果；接下来重点不是继续堆离线功能，而是补 RTK、安全、正式场地和真实采样证据。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这一页只说明当前工程边界和主仓库，不把历史仓库、资料压缩包和当前主线混在一起。车辆侧当前以 spore-vehicle-nav 为准，Web 侧以 spore-monitor-web 为准。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这一页同步底盘和树莓派部署。重点说明基础通信已经稳定，但底层 failsafe 仍然是红线问题。8 小时测试是架空测试，不能替代落地安全验收。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这一页区分仿真、静止实机和运动实机三类证据。仿真建图已经可重复；实机组合栈和单垄验证已经有结果；正式小花园地图、独立真值和 RTK 仍未完成。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这一页说明 Web 生成的路线如何进入车辆端。需要强调接口已经冻结，路径跟踪节点已经实现；当前还差正式场地、独立真值和真实采样器。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这页要把普通 GNSS 和 RTK 彻底分开。ATGM336H 的软件适配已经完成，但硬件能力不满足 0.5 米指标；目前 RTK 采购、差分服务和融合链路都没有完成证据。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Web 这一页同步当前能展示什么、数据从哪里来，以及为什么还不能称为生产系统。核心是功能页签已经齐全，但真实数据接入和后端持久化还没有完成。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这一页要讲清楚算法代码已经形成链路，但当前证据是离线和模拟验证。真实 PCR 实验、病害数据集和准确率报告不在当前成果范围内。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这一页区分三种数据模式和验证层级。集成契约已经冻结，离线故障注入已经覆盖，但真实 rosbridge 运动、任务下发和采样联动还没有形成完整闭环。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这页按日期快速回顾最近进度。组内同步时建议说明：8 月 26 日之前主要是基础栈，8 月 30 日之后进入整合和现场取证；9 月 4 日已经统一车辆侧主仓库。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最后一页用于组内确认任务和分工。优先级是先完成安全和正式证据，再补真实采样、后端和比赛指标。结束时明确需要谁确认 RTK、谁负责现场、谁负责采样器和 Web 提交。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</p:bodyStyle>
    <p:otherStyle>
      <a:lvl1pPr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cover-mark"/>
          <p:cNvSpPr/>
          <p:nvPr/>
        </p:nvSpPr>
        <p:spPr>
          <a:xfrm>
            <a:off x="736600" y="711200"/>
            <a:ext cx="114300" cy="142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cover-title"/>
          <p:cNvSpPr txBox="1"/>
          <p:nvPr/>
        </p:nvSpPr>
        <p:spPr>
          <a:xfrm>
            <a:off x="1117600" y="685800"/>
            <a:ext cx="10033000" cy="6096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0433"/>
              </a:lnSpc>
            </a:pPr>
            <a:r>
              <a:rPr lang="zh-CN" b="1" sz="34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PCR 项目组内进度同步</a:t>
            </a:r>
          </a:p>
        </p:txBody>
      </p:sp>
      <p:sp>
        <p:nvSpPr>
          <p:cNvPr id="3" name="cover-subtitle"/>
          <p:cNvSpPr txBox="1"/>
          <p:nvPr/>
        </p:nvSpPr>
        <p:spPr>
          <a:xfrm>
            <a:off x="1143000" y="1422400"/>
            <a:ext cx="9652000" cy="3810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987"/>
              </a:lnSpc>
            </a:pPr>
            <a:r>
              <a:rPr lang="zh-CN" sz="15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车辆 ROS / Web 控制台 / PCR 算法 / 集成验证</a:t>
            </a:r>
          </a:p>
        </p:txBody>
      </p:sp>
      <p:cxnSp>
        <p:nvCxnSpPr>
          <p:cNvPr id="4" name="cover-rule"/>
          <p:cNvCxnSpPr/>
          <p:nvPr/>
        </p:nvCxnSpPr>
        <p:spPr>
          <a:xfrm rot="0">
            <a:off x="1117600" y="2260600"/>
            <a:ext cx="10033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5" name="cover-conclusion"/>
          <p:cNvSpPr txBox="1"/>
          <p:nvPr/>
        </p:nvSpPr>
        <p:spPr>
          <a:xfrm>
            <a:off x="1143000" y="2641600"/>
            <a:ext cx="10033000" cy="9652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987"/>
              </a:lnSpc>
            </a:pPr>
            <a:r>
              <a:rPr lang="zh-CN" b="1" sz="23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已形成“规划 → 车辆执行 → 数据回传 → 风险预测”的工程骨架。</a:t>
            </a:r>
            <a:br/>
            <a:r>
              <a:rPr lang="zh-CN" b="1" sz="23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当前进入现场证据收口阶段：RTK、failsafe、正式场地、真实采样仍未闭环。</a:t>
            </a:r>
          </a:p>
        </p:txBody>
      </p:sp>
      <p:cxnSp>
        <p:nvCxnSpPr>
          <p:cNvPr id="6" name="metric-line-1"/>
          <p:cNvCxnSpPr/>
          <p:nvPr/>
        </p:nvCxnSpPr>
        <p:spPr>
          <a:xfrm rot="0">
            <a:off x="1143000" y="4514850"/>
            <a:ext cx="2984500" cy="0"/>
          </a:xfrm>
          <a:prstGeom prst="straightConnector1"/>
          <a:ln w="12700" cap="flat" cmpd="sng" algn="ctr">
            <a:solidFill>
              <a:srgbClr val="D6D6D6"/>
            </a:solidFill>
          </a:ln>
        </p:spPr>
      </p:cxnSp>
      <p:sp>
        <p:nvSpPr>
          <p:cNvPr id="7" name="metric-1"/>
          <p:cNvSpPr txBox="1"/>
          <p:nvPr/>
        </p:nvSpPr>
        <p:spPr>
          <a:xfrm>
            <a:off x="1143000" y="4724400"/>
            <a:ext cx="2984500" cy="533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92064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91 + 5 + 7</a:t>
            </a:r>
          </a:p>
        </p:txBody>
      </p:sp>
      <p:sp>
        <p:nvSpPr>
          <p:cNvPr id="8" name="metric-label-1"/>
          <p:cNvSpPr txBox="1"/>
          <p:nvPr/>
        </p:nvSpPr>
        <p:spPr>
          <a:xfrm>
            <a:off x="1143000" y="5334000"/>
            <a:ext cx="2984500" cy="35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车辆离线测试 / GNSS / YAML</a:t>
            </a:r>
          </a:p>
        </p:txBody>
      </p:sp>
      <p:cxnSp>
        <p:nvCxnSpPr>
          <p:cNvPr id="9" name="metric-line-2"/>
          <p:cNvCxnSpPr/>
          <p:nvPr/>
        </p:nvCxnSpPr>
        <p:spPr>
          <a:xfrm rot="0">
            <a:off x="4572000" y="4514850"/>
            <a:ext cx="2984500" cy="0"/>
          </a:xfrm>
          <a:prstGeom prst="straightConnector1"/>
          <a:ln w="12700" cap="flat" cmpd="sng" algn="ctr">
            <a:solidFill>
              <a:srgbClr val="D6D6D6"/>
            </a:solidFill>
          </a:ln>
        </p:spPr>
      </p:cxnSp>
      <p:sp>
        <p:nvSpPr>
          <p:cNvPr id="10" name="metric-2"/>
          <p:cNvSpPr txBox="1"/>
          <p:nvPr/>
        </p:nvSpPr>
        <p:spPr>
          <a:xfrm>
            <a:off x="4572000" y="4724400"/>
            <a:ext cx="2984500" cy="533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92064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6 类 / 9 次</a:t>
            </a:r>
          </a:p>
        </p:txBody>
      </p:sp>
      <p:sp>
        <p:nvSpPr>
          <p:cNvPr id="11" name="metric-label-2"/>
          <p:cNvSpPr txBox="1"/>
          <p:nvPr/>
        </p:nvSpPr>
        <p:spPr>
          <a:xfrm>
            <a:off x="4572000" y="5334000"/>
            <a:ext cx="2984500" cy="35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小尺度实车路线测试</a:t>
            </a:r>
          </a:p>
        </p:txBody>
      </p:sp>
      <p:cxnSp>
        <p:nvCxnSpPr>
          <p:cNvPr id="12" name="metric-line-3"/>
          <p:cNvCxnSpPr/>
          <p:nvPr/>
        </p:nvCxnSpPr>
        <p:spPr>
          <a:xfrm rot="0">
            <a:off x="8001000" y="4514850"/>
            <a:ext cx="2984500" cy="0"/>
          </a:xfrm>
          <a:prstGeom prst="straightConnector1"/>
          <a:ln w="12700" cap="flat" cmpd="sng" algn="ctr">
            <a:solidFill>
              <a:srgbClr val="D6D6D6"/>
            </a:solidFill>
          </a:ln>
        </p:spPr>
      </p:cxnSp>
      <p:sp>
        <p:nvSpPr>
          <p:cNvPr id="13" name="metric-3"/>
          <p:cNvSpPr txBox="1"/>
          <p:nvPr/>
        </p:nvSpPr>
        <p:spPr>
          <a:xfrm>
            <a:off x="8001000" y="4724400"/>
            <a:ext cx="2984500" cy="533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92064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5 项</a:t>
            </a:r>
          </a:p>
        </p:txBody>
      </p:sp>
      <p:sp>
        <p:nvSpPr>
          <p:cNvPr id="14" name="metric-label-3"/>
          <p:cNvSpPr txBox="1"/>
          <p:nvPr/>
        </p:nvSpPr>
        <p:spPr>
          <a:xfrm>
            <a:off x="8001000" y="5334000"/>
            <a:ext cx="2984500" cy="35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RTK / 真值 / 采样 / 安全缺口</a:t>
            </a:r>
          </a:p>
        </p:txBody>
      </p:sp>
      <p:sp>
        <p:nvSpPr>
          <p:cNvPr id="15" name="cover-date"/>
          <p:cNvSpPr txBox="1"/>
          <p:nvPr/>
        </p:nvSpPr>
        <p:spPr>
          <a:xfrm>
            <a:off x="1143000" y="6248400"/>
            <a:ext cx="6858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截止 2026-09-05｜组内进度同步</a:t>
            </a:r>
          </a:p>
        </p:txBody>
      </p:sp>
      <p:sp>
        <p:nvSpPr>
          <p:cNvPr id="16" name="cover-page"/>
          <p:cNvSpPr txBox="1"/>
          <p:nvPr/>
        </p:nvSpPr>
        <p:spPr>
          <a:xfrm>
            <a:off x="10795000" y="6248400"/>
            <a:ext cx="635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r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01 / 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2-title"/>
          <p:cNvSpPr txBox="1"/>
          <p:nvPr/>
        </p:nvSpPr>
        <p:spPr>
          <a:xfrm>
            <a:off x="736600" y="406400"/>
            <a:ext cx="10668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433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当前工程已经分成四条主线，车辆主仓库已统一</a:t>
            </a:r>
          </a:p>
        </p:txBody>
      </p:sp>
      <p:sp>
        <p:nvSpPr>
          <p:cNvPr id="2" name="p2-meta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架构边界：Web 负责编排与展示；车辆端负责实时控制、定位、避障和底层安全</a:t>
            </a:r>
          </a:p>
        </p:txBody>
      </p:sp>
      <p:cxnSp>
        <p:nvCxnSpPr>
          <p:cNvPr id="3" name="p2-rule"/>
          <p:cNvCxnSpPr/>
          <p:nvPr/>
        </p:nvCxnSpPr>
        <p:spPr>
          <a:xfrm rot="0">
            <a:off x="762000" y="1257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cxnSp>
        <p:nvCxnSpPr>
          <p:cNvPr id="4" name="p2-flow-1"/>
          <p:cNvCxnSpPr/>
          <p:nvPr/>
        </p:nvCxnSpPr>
        <p:spPr>
          <a:xfrm rot="0">
            <a:off x="3556000" y="2165350"/>
            <a:ext cx="11430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5" name="p2-flow-2"/>
          <p:cNvCxnSpPr/>
          <p:nvPr/>
        </p:nvCxnSpPr>
        <p:spPr>
          <a:xfrm rot="0">
            <a:off x="6858000" y="2165350"/>
            <a:ext cx="11430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6" name="p2-flow-3"/>
          <p:cNvCxnSpPr/>
          <p:nvPr/>
        </p:nvCxnSpPr>
        <p:spPr>
          <a:xfrm rot="5400000">
            <a:off x="9277350" y="3175000"/>
            <a:ext cx="6350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7" name="p2-flow-4"/>
          <p:cNvCxnSpPr/>
          <p:nvPr/>
        </p:nvCxnSpPr>
        <p:spPr>
          <a:xfrm rot="5400000">
            <a:off x="7689850" y="4762500"/>
            <a:ext cx="6350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sp>
        <p:nvSpPr>
          <p:cNvPr id="8" name="p2-web-node"/>
          <p:cNvSpPr/>
          <p:nvPr/>
        </p:nvSpPr>
        <p:spPr>
          <a:xfrm>
            <a:off x="825500" y="1714500"/>
            <a:ext cx="2730500" cy="889000"/>
          </a:xfrm>
          <a:prstGeom prst="rect">
            <a:avLst/>
          </a:prstGeom>
          <a:solidFill>
            <a:srgbClr val="F3F3F3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p2-route-node"/>
          <p:cNvSpPr/>
          <p:nvPr/>
        </p:nvSpPr>
        <p:spPr>
          <a:xfrm>
            <a:off x="4699000" y="1714500"/>
            <a:ext cx="2159000" cy="889000"/>
          </a:xfrm>
          <a:prstGeom prst="rect">
            <a:avLst/>
          </a:prstGeom>
          <a:solidFill>
            <a:srgbClr val="E7E7E7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p2-vehicle-node"/>
          <p:cNvSpPr/>
          <p:nvPr/>
        </p:nvSpPr>
        <p:spPr>
          <a:xfrm>
            <a:off x="8001000" y="1587500"/>
            <a:ext cx="3175000" cy="1270000"/>
          </a:xfrm>
          <a:prstGeom prst="rect">
            <a:avLst/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p2-data-node"/>
          <p:cNvSpPr/>
          <p:nvPr/>
        </p:nvSpPr>
        <p:spPr>
          <a:xfrm>
            <a:off x="6413500" y="5080000"/>
            <a:ext cx="3175000" cy="825500"/>
          </a:xfrm>
          <a:prstGeom prst="rect">
            <a:avLst/>
          </a:prstGeom>
          <a:solidFill>
            <a:srgbClr val="F3F3F3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p2-web-text"/>
          <p:cNvSpPr txBox="1"/>
          <p:nvPr/>
        </p:nvSpPr>
        <p:spPr>
          <a:xfrm>
            <a:off x="1016000" y="1917700"/>
            <a:ext cx="2349500" cy="4826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12987"/>
              </a:lnSpc>
            </a:pPr>
            <a:r>
              <a:rPr lang="zh-CN" b="1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Web 控制台</a:t>
            </a:r>
          </a:p>
        </p:txBody>
      </p:sp>
      <p:sp>
        <p:nvSpPr>
          <p:cNvPr id="13" name="p2-web-sub"/>
          <p:cNvSpPr txBox="1"/>
          <p:nvPr/>
        </p:nvSpPr>
        <p:spPr>
          <a:xfrm>
            <a:off x="1016000" y="2349500"/>
            <a:ext cx="23495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规划 / 监控 / 分析</a:t>
            </a:r>
          </a:p>
        </p:txBody>
      </p:sp>
      <p:sp>
        <p:nvSpPr>
          <p:cNvPr id="14" name="p2-route-text"/>
          <p:cNvSpPr txBox="1"/>
          <p:nvPr/>
        </p:nvSpPr>
        <p:spPr>
          <a:xfrm>
            <a:off x="4851400" y="1917700"/>
            <a:ext cx="1854200" cy="4826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12987"/>
              </a:lnSpc>
            </a:pPr>
            <a:r>
              <a:rPr lang="zh-CN" b="1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route_v1.json</a:t>
            </a:r>
          </a:p>
        </p:txBody>
      </p:sp>
      <p:sp>
        <p:nvSpPr>
          <p:cNvPr id="15" name="p2-route-sub"/>
          <p:cNvSpPr txBox="1"/>
          <p:nvPr/>
        </p:nvSpPr>
        <p:spPr>
          <a:xfrm>
            <a:off x="4851400" y="2349500"/>
            <a:ext cx="18542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米制 / local_enu</a:t>
            </a:r>
          </a:p>
        </p:txBody>
      </p:sp>
      <p:sp>
        <p:nvSpPr>
          <p:cNvPr id="16" name="p2-vehicle-text"/>
          <p:cNvSpPr txBox="1"/>
          <p:nvPr/>
        </p:nvSpPr>
        <p:spPr>
          <a:xfrm>
            <a:off x="8229600" y="1778000"/>
            <a:ext cx="2730500" cy="5334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600">
                <a:solidFill>
                  <a:srgbClr val="FFFFFF"/>
                </a:solidFill>
                <a:latin typeface="LXGW Neo XiHei"/>
                <a:ea typeface="LXGW Neo XiHei"/>
                <a:cs typeface="LXGW Neo XiHei"/>
              </a:rPr>
              <a:t>ROS 车辆端</a:t>
            </a:r>
          </a:p>
        </p:txBody>
      </p:sp>
      <p:sp>
        <p:nvSpPr>
          <p:cNvPr id="17" name="p2-vehicle-sub"/>
          <p:cNvSpPr txBox="1"/>
          <p:nvPr/>
        </p:nvSpPr>
        <p:spPr>
          <a:xfrm>
            <a:off x="8229600" y="2324100"/>
            <a:ext cx="2730500" cy="3302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sz="1200">
                <a:solidFill>
                  <a:srgbClr val="FFFFFF"/>
                </a:solidFill>
                <a:latin typeface="LXGW Neo XiHei"/>
                <a:ea typeface="LXGW Neo XiHei"/>
                <a:cs typeface="LXGW Neo XiHei"/>
              </a:rPr>
              <a:t>底盘 / 雷达 / EKF / SLAM / 跟踪</a:t>
            </a:r>
          </a:p>
        </p:txBody>
      </p:sp>
      <p:sp>
        <p:nvSpPr>
          <p:cNvPr id="18" name="p2-data-text"/>
          <p:cNvSpPr txBox="1"/>
          <p:nvPr/>
        </p:nvSpPr>
        <p:spPr>
          <a:xfrm>
            <a:off x="6604000" y="5219700"/>
            <a:ext cx="2794000" cy="508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12987"/>
              </a:lnSpc>
            </a:pPr>
            <a:r>
              <a:rPr lang="zh-CN" b="1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环境 / 孢子 / PCR / 遥测</a:t>
            </a:r>
          </a:p>
        </p:txBody>
      </p:sp>
      <p:sp>
        <p:nvSpPr>
          <p:cNvPr id="19" name="p2-data-sub"/>
          <p:cNvSpPr txBox="1"/>
          <p:nvPr/>
        </p:nvSpPr>
        <p:spPr>
          <a:xfrm>
            <a:off x="6604000" y="5638800"/>
            <a:ext cx="2794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风险预测 / 热力图 / 告警 / 报告</a:t>
            </a:r>
          </a:p>
        </p:txBody>
      </p:sp>
      <p:sp>
        <p:nvSpPr>
          <p:cNvPr id="20" name="p2-branches"/>
          <p:cNvSpPr txBox="1"/>
          <p:nvPr/>
        </p:nvSpPr>
        <p:spPr>
          <a:xfrm>
            <a:off x="825500" y="3429000"/>
            <a:ext cx="5080000" cy="2032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7172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当前目录中的主线仓库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/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车辆主线：spore-vehicle-nav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Web 主线：spore-monitor-web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历史基础：spore-patrol-robot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雷达快照：spore-patrol-robot-feature-lidar</a:t>
            </a:r>
          </a:p>
        </p:txBody>
      </p:sp>
      <p:sp>
        <p:nvSpPr>
          <p:cNvPr id="21" name="p2-repo-status"/>
          <p:cNvSpPr txBox="1"/>
          <p:nvPr/>
        </p:nvSpPr>
        <p:spPr>
          <a:xfrm>
            <a:off x="825500" y="5778500"/>
            <a:ext cx="5080000" cy="533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车辆仓库干净；Web 最新整合改动尚未提交；雷达快照无 Git。</a:t>
            </a:r>
          </a:p>
        </p:txBody>
      </p:sp>
      <p:sp>
        <p:nvSpPr>
          <p:cNvPr id="22" name="p2-page"/>
          <p:cNvSpPr txBox="1"/>
          <p:nvPr/>
        </p:nvSpPr>
        <p:spPr>
          <a:xfrm>
            <a:off x="10795000" y="6248400"/>
            <a:ext cx="635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r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02 / 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3-title"/>
          <p:cNvSpPr txBox="1"/>
          <p:nvPr/>
        </p:nvSpPr>
        <p:spPr>
          <a:xfrm>
            <a:off x="736600" y="406400"/>
            <a:ext cx="10668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433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底盘通信和 Pi 部署基本稳定，但安全 failsafe 未达标</a:t>
            </a:r>
          </a:p>
        </p:txBody>
      </p:sp>
      <p:sp>
        <p:nvSpPr>
          <p:cNvPr id="2" name="p3-meta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硬件：R550 PLUS + C50C STM32 + Raspberry Pi 5 + X3 Pro</a:t>
            </a:r>
          </a:p>
        </p:txBody>
      </p:sp>
      <p:cxnSp>
        <p:nvCxnSpPr>
          <p:cNvPr id="3" name="p3-rule"/>
          <p:cNvCxnSpPr/>
          <p:nvPr/>
        </p:nvCxnSpPr>
        <p:spPr>
          <a:xfrm rot="0">
            <a:off x="762000" y="1257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graphicFrame>
        <p:nvGraphicFramePr>
          <p:cNvPr id="4" name="p3-table"/>
          <p:cNvGraphicFramePr/>
          <p:nvPr/>
        </p:nvGraphicFramePr>
        <p:xfrm>
          <a:off x="762000" y="1676400"/>
          <a:ext cx="6921500" cy="3124200"/>
        </p:xfrm>
        <a:graphic>
          <a:graphicData uri="http://schemas.openxmlformats.org/drawingml/2006/table">
            <a:tbl>
              <a:tblPr firstRow="0" bandRow="0" horzBanding="0">
                <a:tableStyleId>{00000000-0000-0000-0000-000000000000}</a:tableStyleId>
              </a:tblPr>
              <a:tblGrid>
                <a:gridCol w="1591945"/>
                <a:gridCol w="3253105"/>
                <a:gridCol w="2076450"/>
              </a:tblGrid>
              <a:tr h="62484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层级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接口 / 配置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当前结果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2484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STM32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11 字节控制帧；24 字节反馈帧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约 20 Hz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62484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ROS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/cmd_vel、/odom、IMU、电池、诊断、TF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已发布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超时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cmd_vel_timeout_s = 0.30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输入过期输出零速度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62484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部署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Ubuntu 24.04.4 + Docker Humble；systemd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8 包构建通过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3-m1"/>
          <p:cNvSpPr txBox="1"/>
          <p:nvPr/>
        </p:nvSpPr>
        <p:spPr>
          <a:xfrm>
            <a:off x="8255000" y="1803400"/>
            <a:ext cx="2921000" cy="558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92064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8 h / 48 轮</a:t>
            </a:r>
          </a:p>
        </p:txBody>
      </p:sp>
      <p:cxnSp>
        <p:nvCxnSpPr>
          <p:cNvPr id="6" name="p3-l1"/>
          <p:cNvCxnSpPr/>
          <p:nvPr/>
        </p:nvCxnSpPr>
        <p:spPr>
          <a:xfrm rot="0">
            <a:off x="8255000" y="2470150"/>
            <a:ext cx="2921000" cy="0"/>
          </a:xfrm>
          <a:prstGeom prst="straightConnector1"/>
          <a:ln w="12700" cap="flat" cmpd="sng" algn="ctr">
            <a:solidFill>
              <a:srgbClr val="D6D6D6"/>
            </a:solidFill>
          </a:ln>
        </p:spPr>
      </p:cxnSp>
      <p:sp>
        <p:nvSpPr>
          <p:cNvPr id="7" name="p3-t1"/>
          <p:cNvSpPr txBox="1"/>
          <p:nvPr/>
        </p:nvSpPr>
        <p:spPr>
          <a:xfrm>
            <a:off x="8255000" y="2590800"/>
            <a:ext cx="2921000" cy="4572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夜间架空自动测试通过</a:t>
            </a:r>
          </a:p>
        </p:txBody>
      </p:sp>
      <p:sp>
        <p:nvSpPr>
          <p:cNvPr id="8" name="p3-m2"/>
          <p:cNvSpPr txBox="1"/>
          <p:nvPr/>
        </p:nvSpPr>
        <p:spPr>
          <a:xfrm>
            <a:off x="8255000" y="3302000"/>
            <a:ext cx="2921000" cy="558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92064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20 Hz / 11.3 Hz</a:t>
            </a:r>
          </a:p>
        </p:txBody>
      </p:sp>
      <p:cxnSp>
        <p:nvCxnSpPr>
          <p:cNvPr id="9" name="p3-l2"/>
          <p:cNvCxnSpPr/>
          <p:nvPr/>
        </p:nvCxnSpPr>
        <p:spPr>
          <a:xfrm rot="0">
            <a:off x="8255000" y="3968750"/>
            <a:ext cx="2921000" cy="0"/>
          </a:xfrm>
          <a:prstGeom prst="straightConnector1"/>
          <a:ln w="12700" cap="flat" cmpd="sng" algn="ctr">
            <a:solidFill>
              <a:srgbClr val="D6D6D6"/>
            </a:solidFill>
          </a:ln>
        </p:spPr>
      </p:cxnSp>
      <p:sp>
        <p:nvSpPr>
          <p:cNvPr id="10" name="p3-t2"/>
          <p:cNvSpPr txBox="1"/>
          <p:nvPr/>
        </p:nvSpPr>
        <p:spPr>
          <a:xfrm>
            <a:off x="8255000" y="4089400"/>
            <a:ext cx="2921000" cy="4572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EKF /scan 静止接入频率</a:t>
            </a:r>
          </a:p>
        </p:txBody>
      </p:sp>
      <p:cxnSp>
        <p:nvCxnSpPr>
          <p:cNvPr id="11" name="p3-warning-rule"/>
          <p:cNvCxnSpPr/>
          <p:nvPr/>
        </p:nvCxnSpPr>
        <p:spPr>
          <a:xfrm rot="0">
            <a:off x="762000" y="5270500"/>
            <a:ext cx="10668000" cy="0"/>
          </a:xfrm>
          <a:prstGeom prst="straightConnector1"/>
          <a:ln w="38100" cap="flat" cmpd="sng" algn="ctr">
            <a:solidFill>
              <a:schemeClr val="accent1"/>
            </a:solidFill>
          </a:ln>
        </p:spPr>
      </p:cxnSp>
      <p:sp>
        <p:nvSpPr>
          <p:cNvPr id="12" name="p3-warning"/>
          <p:cNvSpPr txBox="1"/>
          <p:nvPr/>
        </p:nvSpPr>
        <p:spPr>
          <a:xfrm>
            <a:off x="762000" y="5461000"/>
            <a:ext cx="10668000" cy="533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987"/>
              </a:lnSpc>
            </a:pPr>
            <a:r>
              <a:rPr lang="zh-CN" b="1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failsafe 复测：1.309 s / 1.409 s，超过 1.2 s 目标。</a:t>
            </a:r>
            <a:br/>
            <a:r>
              <a:rPr lang="zh-CN" b="1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结论：底盘最终能停下，但固件响应时间仍未满足严格安全验收。</a:t>
            </a:r>
          </a:p>
        </p:txBody>
      </p:sp>
      <p:sp>
        <p:nvSpPr>
          <p:cNvPr id="13" name="p3-page"/>
          <p:cNvSpPr txBox="1"/>
          <p:nvPr/>
        </p:nvSpPr>
        <p:spPr>
          <a:xfrm>
            <a:off x="10795000" y="6248400"/>
            <a:ext cx="635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r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03 / 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4-title"/>
          <p:cNvSpPr txBox="1"/>
          <p:nvPr/>
        </p:nvSpPr>
        <p:spPr>
          <a:xfrm>
            <a:off x="736600" y="406400"/>
            <a:ext cx="10668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433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X3 Pro + EKF + SLAM 已跑通，正式场地证据未补齐</a:t>
            </a:r>
          </a:p>
        </p:txBody>
      </p:sp>
      <p:sp>
        <p:nvSpPr>
          <p:cNvPr id="2" name="p4-meta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传感器链路：X3 Pro /scan → SLAM Toolbox；轮速 + ICM20948 → robot_localization EKF</a:t>
            </a:r>
          </a:p>
        </p:txBody>
      </p:sp>
      <p:cxnSp>
        <p:nvCxnSpPr>
          <p:cNvPr id="3" name="p4-rule"/>
          <p:cNvCxnSpPr/>
          <p:nvPr/>
        </p:nvCxnSpPr>
        <p:spPr>
          <a:xfrm rot="0">
            <a:off x="762000" y="1257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4" name="p4-tf-label"/>
          <p:cNvSpPr txBox="1"/>
          <p:nvPr/>
        </p:nvSpPr>
        <p:spPr>
          <a:xfrm>
            <a:off x="762000" y="1676400"/>
            <a:ext cx="3175000" cy="3302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b="1" sz="18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TF 归属</a:t>
            </a:r>
          </a:p>
        </p:txBody>
      </p:sp>
      <p:sp>
        <p:nvSpPr>
          <p:cNvPr id="5" name="p4-tf"/>
          <p:cNvSpPr txBox="1"/>
          <p:nvPr/>
        </p:nvSpPr>
        <p:spPr>
          <a:xfrm>
            <a:off x="762000" y="2159000"/>
            <a:ext cx="3175000" cy="14732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25541"/>
              </a:lnSpc>
            </a:pPr>
            <a:r>
              <a:rPr lang="zh-CN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map</a:t>
            </a:r>
            <a:br/>
            <a:r>
              <a:rPr lang="zh-CN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>  ↓</a:t>
            </a:r>
            <a:br/>
            <a:r>
              <a:rPr lang="zh-CN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odom</a:t>
            </a:r>
            <a:br/>
            <a:r>
              <a:rPr lang="zh-CN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>  ↓</a:t>
            </a:r>
            <a:br/>
            <a:r>
              <a:rPr lang="zh-CN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base_footprint</a:t>
            </a:r>
            <a:br/>
            <a:r>
              <a:rPr lang="zh-CN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>  ↓</a:t>
            </a:r>
            <a:br/>
            <a:r>
              <a:rPr lang="zh-CN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base_link → laser_link</a:t>
            </a:r>
          </a:p>
        </p:txBody>
      </p:sp>
      <p:sp>
        <p:nvSpPr>
          <p:cNvPr id="6" name="p4-tf-note"/>
          <p:cNvSpPr txBox="1"/>
          <p:nvPr/>
        </p:nvSpPr>
        <p:spPr>
          <a:xfrm>
            <a:off x="762000" y="3937000"/>
            <a:ext cx="3175000" cy="914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SLAM 负责 map→odom</a:t>
            </a:r>
            <a:br/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EKF 负责 odom→base_footprint</a:t>
            </a:r>
            <a:br/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路线按 field 坐标转换到 map/odom</a:t>
            </a:r>
          </a:p>
        </p:txBody>
      </p:sp>
      <p:graphicFrame>
        <p:nvGraphicFramePr>
          <p:cNvPr id="7" name="p4-evidence-table"/>
          <p:cNvGraphicFramePr/>
          <p:nvPr/>
        </p:nvGraphicFramePr>
        <p:xfrm>
          <a:off x="4445000" y="1676400"/>
          <a:ext cx="6985000" cy="3175000"/>
        </p:xfrm>
        <a:graphic>
          <a:graphicData uri="http://schemas.openxmlformats.org/drawingml/2006/table">
            <a:tbl>
              <a:tblPr firstRow="0" bandRow="0" horzBanding="0">
                <a:tableStyleId>{00000000-0000-0000-0000-000000000000}</a:tableStyleId>
              </a:tblPr>
              <a:tblGrid>
                <a:gridCol w="1536700"/>
                <a:gridCol w="3073400"/>
                <a:gridCol w="2374900"/>
              </a:tblGrid>
              <a:tr h="6350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证据层级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配置 / 条件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结果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350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仿真场景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8 m × 6 m；3 垄；0.05 m 栅格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9 航点闭环通过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6350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地图保存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PGM/YAML + pose graph/data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文件已归档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重复性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两次同配置低速闭环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最大偏移 0.050 m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6350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实机单垄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2026-09-01；1.73 m；U-turn 3.36 m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航向漂移约 0.2°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p4-bottom-rule"/>
          <p:cNvCxnSpPr/>
          <p:nvPr/>
        </p:nvCxnSpPr>
        <p:spPr>
          <a:xfrm rot="0">
            <a:off x="762000" y="52705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9" name="p4-bottom"/>
          <p:cNvSpPr txBox="1"/>
          <p:nvPr/>
        </p:nvSpPr>
        <p:spPr>
          <a:xfrm>
            <a:off x="762000" y="5461000"/>
            <a:ext cx="10668000" cy="558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987"/>
              </a:lnSpc>
            </a:pPr>
            <a:r>
              <a:rPr lang="zh-CN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正式小花园地图、实机 rosbag、重复路线、独立真值 P95、室外长期稳定性和 RTK 融合仍待完成。</a:t>
            </a:r>
          </a:p>
        </p:txBody>
      </p:sp>
      <p:sp>
        <p:nvSpPr>
          <p:cNvPr id="10" name="p4-page"/>
          <p:cNvSpPr txBox="1"/>
          <p:nvPr/>
        </p:nvSpPr>
        <p:spPr>
          <a:xfrm>
            <a:off x="10795000" y="6248400"/>
            <a:ext cx="635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r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04 / 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5-title"/>
          <p:cNvSpPr txBox="1"/>
          <p:nvPr/>
        </p:nvSpPr>
        <p:spPr>
          <a:xfrm>
            <a:off x="736600" y="406400"/>
            <a:ext cx="10668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433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route_v1 和任务状态机已落地，小尺度路线已完成验证</a:t>
            </a:r>
          </a:p>
        </p:txBody>
      </p:sp>
      <p:sp>
        <p:nvSpPr>
          <p:cNvPr id="2" name="p5-meta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车辆节点：route_tracker_node；控制频率 10 Hz；任务心跳 1 Hz</a:t>
            </a:r>
          </a:p>
        </p:txBody>
      </p:sp>
      <p:cxnSp>
        <p:nvCxnSpPr>
          <p:cNvPr id="3" name="p5-rule"/>
          <p:cNvCxnSpPr/>
          <p:nvPr/>
        </p:nvCxnSpPr>
        <p:spPr>
          <a:xfrm rot="0">
            <a:off x="762000" y="1257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cxnSp>
        <p:nvCxnSpPr>
          <p:cNvPr id="4" name="p5-l1"/>
          <p:cNvCxnSpPr/>
          <p:nvPr/>
        </p:nvCxnSpPr>
        <p:spPr>
          <a:xfrm rot="0">
            <a:off x="2667000" y="2139950"/>
            <a:ext cx="5334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5" name="p5-l2"/>
          <p:cNvCxnSpPr/>
          <p:nvPr/>
        </p:nvCxnSpPr>
        <p:spPr>
          <a:xfrm rot="0">
            <a:off x="4826000" y="2139950"/>
            <a:ext cx="5334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6" name="p5-l3"/>
          <p:cNvCxnSpPr/>
          <p:nvPr/>
        </p:nvCxnSpPr>
        <p:spPr>
          <a:xfrm rot="0">
            <a:off x="6985000" y="2139950"/>
            <a:ext cx="5334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7" name="p5-l4"/>
          <p:cNvCxnSpPr/>
          <p:nvPr/>
        </p:nvCxnSpPr>
        <p:spPr>
          <a:xfrm rot="0">
            <a:off x="9144000" y="2139950"/>
            <a:ext cx="5334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sp>
        <p:nvSpPr>
          <p:cNvPr id="8" name="p5-n1"/>
          <p:cNvSpPr/>
          <p:nvPr/>
        </p:nvSpPr>
        <p:spPr>
          <a:xfrm>
            <a:off x="762000" y="1714500"/>
            <a:ext cx="1905000" cy="838200"/>
          </a:xfrm>
          <a:prstGeom prst="rect">
            <a:avLst/>
          </a:prstGeom>
          <a:solidFill>
            <a:srgbClr val="F3F3F3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p5-n2"/>
          <p:cNvSpPr/>
          <p:nvPr/>
        </p:nvSpPr>
        <p:spPr>
          <a:xfrm>
            <a:off x="3200400" y="1714500"/>
            <a:ext cx="1625600" cy="838200"/>
          </a:xfrm>
          <a:prstGeom prst="rect">
            <a:avLst/>
          </a:prstGeom>
          <a:solidFill>
            <a:srgbClr val="E7E7E7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p5-n3"/>
          <p:cNvSpPr/>
          <p:nvPr/>
        </p:nvSpPr>
        <p:spPr>
          <a:xfrm>
            <a:off x="5359400" y="1714500"/>
            <a:ext cx="1625600" cy="838200"/>
          </a:xfrm>
          <a:prstGeom prst="rect">
            <a:avLst/>
          </a:prstGeom>
          <a:solidFill>
            <a:srgbClr val="F3F3F3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p5-n4"/>
          <p:cNvSpPr/>
          <p:nvPr/>
        </p:nvSpPr>
        <p:spPr>
          <a:xfrm>
            <a:off x="7518400" y="1714500"/>
            <a:ext cx="1625600" cy="838200"/>
          </a:xfrm>
          <a:prstGeom prst="rect">
            <a:avLst/>
          </a:prstGeom>
          <a:solidFill>
            <a:srgbClr val="E7E7E7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p5-n5"/>
          <p:cNvSpPr/>
          <p:nvPr/>
        </p:nvSpPr>
        <p:spPr>
          <a:xfrm>
            <a:off x="9677400" y="1714500"/>
            <a:ext cx="1752600" cy="838200"/>
          </a:xfrm>
          <a:prstGeom prst="rect">
            <a:avLst/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p5-t1"/>
          <p:cNvSpPr txBox="1"/>
          <p:nvPr/>
        </p:nvSpPr>
        <p:spPr>
          <a:xfrm>
            <a:off x="863600" y="1917700"/>
            <a:ext cx="1701800" cy="4318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Web 规划</a:t>
            </a:r>
          </a:p>
        </p:txBody>
      </p:sp>
      <p:sp>
        <p:nvSpPr>
          <p:cNvPr id="14" name="p5-t2"/>
          <p:cNvSpPr txBox="1"/>
          <p:nvPr/>
        </p:nvSpPr>
        <p:spPr>
          <a:xfrm>
            <a:off x="3276600" y="1917700"/>
            <a:ext cx="1473200" cy="4318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路线校验</a:t>
            </a:r>
          </a:p>
        </p:txBody>
      </p:sp>
      <p:sp>
        <p:nvSpPr>
          <p:cNvPr id="15" name="p5-t3"/>
          <p:cNvSpPr txBox="1"/>
          <p:nvPr/>
        </p:nvSpPr>
        <p:spPr>
          <a:xfrm>
            <a:off x="5435600" y="1917700"/>
            <a:ext cx="1473200" cy="4318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坐标转换</a:t>
            </a:r>
          </a:p>
        </p:txBody>
      </p:sp>
      <p:sp>
        <p:nvSpPr>
          <p:cNvPr id="16" name="p5-t4"/>
          <p:cNvSpPr txBox="1"/>
          <p:nvPr/>
        </p:nvSpPr>
        <p:spPr>
          <a:xfrm>
            <a:off x="7594600" y="1917700"/>
            <a:ext cx="1473200" cy="4318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Pure Pursuit</a:t>
            </a:r>
          </a:p>
        </p:txBody>
      </p:sp>
      <p:sp>
        <p:nvSpPr>
          <p:cNvPr id="17" name="p5-t5"/>
          <p:cNvSpPr txBox="1"/>
          <p:nvPr/>
        </p:nvSpPr>
        <p:spPr>
          <a:xfrm>
            <a:off x="9779000" y="1917700"/>
            <a:ext cx="1549400" cy="4318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600">
                <a:solidFill>
                  <a:srgbClr val="FFFFFF"/>
                </a:solidFill>
                <a:latin typeface="LXGW Neo XiHei"/>
                <a:ea typeface="LXGW Neo XiHei"/>
                <a:cs typeface="LXGW Neo XiHei"/>
              </a:rPr>
              <a:t>/cmd_vel</a:t>
            </a:r>
          </a:p>
        </p:txBody>
      </p:sp>
      <p:sp>
        <p:nvSpPr>
          <p:cNvPr id="18" name="p5-schema"/>
          <p:cNvSpPr txBox="1"/>
          <p:nvPr/>
        </p:nvSpPr>
        <p:spPr>
          <a:xfrm>
            <a:off x="762000" y="3111500"/>
            <a:ext cx="4953000" cy="1803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987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route_v1 接口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/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schema_version=1.0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frame_id=field；coordinate_type=local_enu；unit=m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航点：seq / x_m / y_m / yaw_rad / type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任务关联：round / sample_id / speed_limit_mps / tolerance_m</a:t>
            </a:r>
          </a:p>
        </p:txBody>
      </p:sp>
      <p:sp>
        <p:nvSpPr>
          <p:cNvPr id="19" name="p5-state"/>
          <p:cNvSpPr txBox="1"/>
          <p:nvPr/>
        </p:nvSpPr>
        <p:spPr>
          <a:xfrm>
            <a:off x="6413500" y="3111500"/>
            <a:ext cx="5016500" cy="1803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987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状态机与安全逻辑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/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IDLE → TASK_LOADED → NAVIGATING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→ ARRIVED → SETTLING → SAMPLING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→ SAMPLE_FINISHED → TASK_FINISHED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/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支持暂停 / 继续 / 返航 / 取消 / 故障；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位姿或雷达过期、未知状态、前向障碍时输出零速度。</a:t>
            </a:r>
          </a:p>
        </p:txBody>
      </p:sp>
      <p:cxnSp>
        <p:nvCxnSpPr>
          <p:cNvPr id="20" name="p5-bottom-rule"/>
          <p:cNvCxnSpPr/>
          <p:nvPr/>
        </p:nvCxnSpPr>
        <p:spPr>
          <a:xfrm rot="0">
            <a:off x="762000" y="52705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21" name="p5-bottom"/>
          <p:cNvSpPr txBox="1"/>
          <p:nvPr/>
        </p:nvSpPr>
        <p:spPr>
          <a:xfrm>
            <a:off x="762000" y="5461000"/>
            <a:ext cx="10668000" cy="558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987"/>
              </a:lnSpc>
            </a:pPr>
            <a:r>
              <a:rPr lang="zh-CN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小尺度实车已完成 6 类、9 次测试；正式小花园路线、独立真值误差和真实采样器仍待补齐。</a:t>
            </a:r>
          </a:p>
        </p:txBody>
      </p:sp>
      <p:sp>
        <p:nvSpPr>
          <p:cNvPr id="22" name="p5-page"/>
          <p:cNvSpPr txBox="1"/>
          <p:nvPr/>
        </p:nvSpPr>
        <p:spPr>
          <a:xfrm>
            <a:off x="10795000" y="6248400"/>
            <a:ext cx="635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r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05 / 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6-title"/>
          <p:cNvSpPr txBox="1"/>
          <p:nvPr/>
        </p:nvSpPr>
        <p:spPr>
          <a:xfrm>
            <a:off x="736600" y="406400"/>
            <a:ext cx="10668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433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ATGM336H 只能做普通 GNSS，RTK 精定位链路尚未启动</a:t>
            </a:r>
          </a:p>
        </p:txBody>
      </p:sp>
      <p:sp>
        <p:nvSpPr>
          <p:cNvPr id="2" name="p6-meta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当前模块：NMEA 解析 + ROS 2 发布；目标模块：多频 RTK + 差分 + 全局融合</a:t>
            </a:r>
          </a:p>
        </p:txBody>
      </p:sp>
      <p:cxnSp>
        <p:nvCxnSpPr>
          <p:cNvPr id="3" name="p6-rule"/>
          <p:cNvCxnSpPr/>
          <p:nvPr/>
        </p:nvCxnSpPr>
        <p:spPr>
          <a:xfrm rot="0">
            <a:off x="762000" y="1257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graphicFrame>
        <p:nvGraphicFramePr>
          <p:cNvPr id="4" name="p6-table"/>
          <p:cNvGraphicFramePr/>
          <p:nvPr/>
        </p:nvGraphicFramePr>
        <p:xfrm>
          <a:off x="762000" y="1651000"/>
          <a:ext cx="7429500" cy="3429000"/>
        </p:xfrm>
        <a:graphic>
          <a:graphicData uri="http://schemas.openxmlformats.org/drawingml/2006/table">
            <a:tbl>
              <a:tblPr firstRow="0" bandRow="0" horzBanding="0">
                <a:tableStyleId>{00000000-0000-0000-0000-000000000000}</a:tableStyleId>
              </a:tblPr>
              <a:tblGrid>
                <a:gridCol w="1634490"/>
                <a:gridCol w="2897505"/>
                <a:gridCol w="2897505"/>
              </a:tblGrid>
              <a:tr h="58293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维度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当前 ATGM336H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比赛级目标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8293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定位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单频单点 GNSS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多频 RTK Float/Fix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58293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差分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无 RTCM / CORS 链路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CORS/NTRIP 或自建基站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航向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普通 NMEA 航向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双天线或稳定融合航向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软件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GGA/GLL/VTG、/fix、ENU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RTK 状态、质量和全局融合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串口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/dev/ttyUSB0；9600 baud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需与雷达分配专用串口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6-conclusion-mark"/>
          <p:cNvSpPr/>
          <p:nvPr/>
        </p:nvSpPr>
        <p:spPr>
          <a:xfrm>
            <a:off x="8763000" y="1879600"/>
            <a:ext cx="127000" cy="1549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" name="p6-conclusion"/>
          <p:cNvSpPr txBox="1"/>
          <p:nvPr/>
        </p:nvSpPr>
        <p:spPr>
          <a:xfrm>
            <a:off x="9144000" y="1841500"/>
            <a:ext cx="2286000" cy="1676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987"/>
              </a:lnSpc>
            </a:pPr>
            <a:r>
              <a:rPr lang="zh-CN" b="1" sz="20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当前结论</a:t>
            </a:r>
            <a:br/>
            <a:r>
              <a:rPr lang="zh-CN" b="1" sz="20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/>
            </a:r>
            <a:br/>
            <a:r>
              <a:rPr lang="zh-CN" b="1" sz="20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普通 GNSS 软件包已完成，</a:t>
            </a:r>
            <a:br/>
            <a:r>
              <a:rPr lang="zh-CN" b="1" sz="20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但不能证明</a:t>
            </a:r>
            <a:br/>
            <a:r>
              <a:rPr lang="zh-CN" b="1" sz="20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定位误差 &lt; 0.5 m。</a:t>
            </a:r>
          </a:p>
        </p:txBody>
      </p:sp>
      <p:cxnSp>
        <p:nvCxnSpPr>
          <p:cNvPr id="7" name="p6-bottom-rule"/>
          <p:cNvCxnSpPr/>
          <p:nvPr/>
        </p:nvCxnSpPr>
        <p:spPr>
          <a:xfrm rot="0">
            <a:off x="762000" y="53975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8" name="p6-bottom"/>
          <p:cNvSpPr txBox="1"/>
          <p:nvPr/>
        </p:nvSpPr>
        <p:spPr>
          <a:xfrm>
            <a:off x="762000" y="5588000"/>
            <a:ext cx="10668000" cy="4572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987"/>
              </a:lnSpc>
            </a:pPr>
            <a:r>
              <a:rPr lang="zh-CN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下一步：先确定 RTK 接收机、天线、差分服务和独立真值方案，再做现场接入与融合误差统计。</a:t>
            </a:r>
          </a:p>
        </p:txBody>
      </p:sp>
      <p:sp>
        <p:nvSpPr>
          <p:cNvPr id="9" name="p6-page"/>
          <p:cNvSpPr txBox="1"/>
          <p:nvPr/>
        </p:nvSpPr>
        <p:spPr>
          <a:xfrm>
            <a:off x="10795000" y="6248400"/>
            <a:ext cx="635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r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06 / 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7-title"/>
          <p:cNvSpPr txBox="1"/>
          <p:nvPr/>
        </p:nvSpPr>
        <p:spPr>
          <a:xfrm>
            <a:off x="736600" y="406400"/>
            <a:ext cx="10668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433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Web 控制台功能已齐全，当前以本地和模拟数据为主</a:t>
            </a:r>
          </a:p>
        </p:txBody>
      </p:sp>
      <p:sp>
        <p:nvSpPr>
          <p:cNvPr id="2" name="p7-meta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工程：Next.js 16 + React 19；机器人数据：rosbridge + Mock/Replay</a:t>
            </a:r>
          </a:p>
        </p:txBody>
      </p:sp>
      <p:cxnSp>
        <p:nvCxnSpPr>
          <p:cNvPr id="3" name="p7-rule"/>
          <p:cNvCxnSpPr/>
          <p:nvPr/>
        </p:nvCxnSpPr>
        <p:spPr>
          <a:xfrm rot="0">
            <a:off x="762000" y="1257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graphicFrame>
        <p:nvGraphicFramePr>
          <p:cNvPr id="4" name="p7-table"/>
          <p:cNvGraphicFramePr/>
          <p:nvPr/>
        </p:nvGraphicFramePr>
        <p:xfrm>
          <a:off x="762000" y="1676400"/>
          <a:ext cx="6794500" cy="3810000"/>
        </p:xfrm>
        <a:graphic>
          <a:graphicData uri="http://schemas.openxmlformats.org/drawingml/2006/table">
            <a:tbl>
              <a:tblPr firstRow="0" bandRow="0" horzBanding="0">
                <a:tableStyleId>{00000000-0000-0000-0000-000000000000}</a:tableStyleId>
              </a:tblPr>
              <a:tblGrid>
                <a:gridCol w="1630680"/>
                <a:gridCol w="5163820"/>
              </a:tblGrid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页签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当前功能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路径规划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地块边界、路线生成、route_v1.json 导出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环境感知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环境点位、模拟分布、阈值告警和扫描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PCR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Ct、浓度、质量、LOD、离群值、融合和导出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病害识别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8 类病害浏览器端颜色/纹理识别原型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趋势预测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3/5/7 天风险、热力图、扩散模型和报告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监管告警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告警状态、责任人、处置和趋势展示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机器人监控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融合位姿、雷达、电池、诊断、任务状态、GNSS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7-modes-title"/>
          <p:cNvSpPr txBox="1"/>
          <p:nvPr/>
        </p:nvSpPr>
        <p:spPr>
          <a:xfrm>
            <a:off x="8255000" y="1676400"/>
            <a:ext cx="3048000" cy="35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b="1" sz="18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数据模式</a:t>
            </a:r>
          </a:p>
        </p:txBody>
      </p:sp>
      <p:sp>
        <p:nvSpPr>
          <p:cNvPr id="6" name="p7-modes"/>
          <p:cNvSpPr txBox="1"/>
          <p:nvPr/>
        </p:nvSpPr>
        <p:spPr>
          <a:xfrm>
            <a:off x="8255000" y="2184400"/>
            <a:ext cx="3048000" cy="2413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21357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Mock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确定性任务模拟；不连接实机，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不发布真实 /cmd_vel。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/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Replay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固定回放数据；只读。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/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rosbridge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读取车辆实时遥测；当前只读适配。</a:t>
            </a:r>
          </a:p>
        </p:txBody>
      </p:sp>
      <p:cxnSp>
        <p:nvCxnSpPr>
          <p:cNvPr id="7" name="p7-storage-rule"/>
          <p:cNvCxnSpPr/>
          <p:nvPr/>
        </p:nvCxnSpPr>
        <p:spPr>
          <a:xfrm rot="0">
            <a:off x="8255000" y="4940300"/>
            <a:ext cx="304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8" name="p7-storage"/>
          <p:cNvSpPr txBox="1"/>
          <p:nvPr/>
        </p:nvSpPr>
        <p:spPr>
          <a:xfrm>
            <a:off x="8255000" y="5143500"/>
            <a:ext cx="3048000" cy="889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987"/>
              </a:lnSpc>
            </a:pPr>
            <a:r>
              <a:rPr lang="zh-CN" b="1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当前限制</a:t>
            </a:r>
            <a:br/>
            <a:r>
              <a:rPr lang="zh-CN" b="1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localStorage 为主，</a:t>
            </a:r>
            <a:br/>
            <a:r>
              <a:rPr lang="zh-CN" b="1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尚无正式后端数据库和文件服务。</a:t>
            </a:r>
          </a:p>
        </p:txBody>
      </p:sp>
      <p:sp>
        <p:nvSpPr>
          <p:cNvPr id="9" name="p7-page"/>
          <p:cNvSpPr txBox="1"/>
          <p:nvPr/>
        </p:nvSpPr>
        <p:spPr>
          <a:xfrm>
            <a:off x="10795000" y="6248400"/>
            <a:ext cx="635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r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07 / 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8-title"/>
          <p:cNvSpPr txBox="1"/>
          <p:nvPr/>
        </p:nvSpPr>
        <p:spPr>
          <a:xfrm>
            <a:off x="736600" y="406400"/>
            <a:ext cx="10668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433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PCR 与扩散预测链路已形成离线原型，真实实验数据仍缺失</a:t>
            </a:r>
          </a:p>
        </p:txBody>
      </p:sp>
      <p:sp>
        <p:nvSpPr>
          <p:cNvPr id="2" name="p8-meta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数据来源：Python 软著参考源码 + Web 迁移增强；当前不等同于田间性能</a:t>
            </a:r>
          </a:p>
        </p:txBody>
      </p:sp>
      <p:cxnSp>
        <p:nvCxnSpPr>
          <p:cNvPr id="3" name="p8-rule"/>
          <p:cNvCxnSpPr/>
          <p:nvPr/>
        </p:nvCxnSpPr>
        <p:spPr>
          <a:xfrm rot="0">
            <a:off x="762000" y="1257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cxnSp>
        <p:nvCxnSpPr>
          <p:cNvPr id="4" name="p8-a1"/>
          <p:cNvCxnSpPr/>
          <p:nvPr/>
        </p:nvCxnSpPr>
        <p:spPr>
          <a:xfrm rot="0">
            <a:off x="2286000" y="2228850"/>
            <a:ext cx="2540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5" name="p8-a2"/>
          <p:cNvCxnSpPr/>
          <p:nvPr/>
        </p:nvCxnSpPr>
        <p:spPr>
          <a:xfrm rot="0">
            <a:off x="4127500" y="2228850"/>
            <a:ext cx="2540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6" name="p8-a3"/>
          <p:cNvCxnSpPr/>
          <p:nvPr/>
        </p:nvCxnSpPr>
        <p:spPr>
          <a:xfrm rot="0">
            <a:off x="5969000" y="2228850"/>
            <a:ext cx="2540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7" name="p8-a4"/>
          <p:cNvCxnSpPr/>
          <p:nvPr/>
        </p:nvCxnSpPr>
        <p:spPr>
          <a:xfrm rot="0">
            <a:off x="7810500" y="2228850"/>
            <a:ext cx="2540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8" name="p8-a5"/>
          <p:cNvCxnSpPr/>
          <p:nvPr/>
        </p:nvCxnSpPr>
        <p:spPr>
          <a:xfrm rot="0">
            <a:off x="9652000" y="2228850"/>
            <a:ext cx="2540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sp>
        <p:nvSpPr>
          <p:cNvPr id="9" name="p8-n1"/>
          <p:cNvSpPr/>
          <p:nvPr/>
        </p:nvSpPr>
        <p:spPr>
          <a:xfrm>
            <a:off x="762000" y="1778000"/>
            <a:ext cx="1524000" cy="889000"/>
          </a:xfrm>
          <a:prstGeom prst="rect">
            <a:avLst/>
          </a:prstGeom>
          <a:solidFill>
            <a:srgbClr val="F3F3F3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p8-n2"/>
          <p:cNvSpPr/>
          <p:nvPr/>
        </p:nvSpPr>
        <p:spPr>
          <a:xfrm>
            <a:off x="2540000" y="1778000"/>
            <a:ext cx="1587500" cy="889000"/>
          </a:xfrm>
          <a:prstGeom prst="rect">
            <a:avLst/>
          </a:prstGeom>
          <a:solidFill>
            <a:srgbClr val="E7E7E7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p8-n3"/>
          <p:cNvSpPr/>
          <p:nvPr/>
        </p:nvSpPr>
        <p:spPr>
          <a:xfrm>
            <a:off x="4381500" y="1778000"/>
            <a:ext cx="1587500" cy="889000"/>
          </a:xfrm>
          <a:prstGeom prst="rect">
            <a:avLst/>
          </a:prstGeom>
          <a:solidFill>
            <a:srgbClr val="F3F3F3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p8-n4"/>
          <p:cNvSpPr/>
          <p:nvPr/>
        </p:nvSpPr>
        <p:spPr>
          <a:xfrm>
            <a:off x="6223000" y="1778000"/>
            <a:ext cx="1587500" cy="889000"/>
          </a:xfrm>
          <a:prstGeom prst="rect">
            <a:avLst/>
          </a:prstGeom>
          <a:solidFill>
            <a:srgbClr val="E7E7E7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p8-n5"/>
          <p:cNvSpPr/>
          <p:nvPr/>
        </p:nvSpPr>
        <p:spPr>
          <a:xfrm>
            <a:off x="8064500" y="1778000"/>
            <a:ext cx="1587500" cy="889000"/>
          </a:xfrm>
          <a:prstGeom prst="rect">
            <a:avLst/>
          </a:prstGeom>
          <a:solidFill>
            <a:srgbClr val="F3F3F3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p8-n6"/>
          <p:cNvSpPr/>
          <p:nvPr/>
        </p:nvSpPr>
        <p:spPr>
          <a:xfrm>
            <a:off x="9906000" y="1778000"/>
            <a:ext cx="1524000" cy="889000"/>
          </a:xfrm>
          <a:prstGeom prst="rect">
            <a:avLst/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p8-t1"/>
          <p:cNvSpPr txBox="1"/>
          <p:nvPr/>
        </p:nvSpPr>
        <p:spPr>
          <a:xfrm>
            <a:off x="863600" y="1955800"/>
            <a:ext cx="1320800" cy="508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环境 / 孢子 / PCR</a:t>
            </a:r>
          </a:p>
        </p:txBody>
      </p:sp>
      <p:sp>
        <p:nvSpPr>
          <p:cNvPr id="16" name="p8-t2"/>
          <p:cNvSpPr txBox="1"/>
          <p:nvPr/>
        </p:nvSpPr>
        <p:spPr>
          <a:xfrm>
            <a:off x="2641600" y="1955800"/>
            <a:ext cx="1384300" cy="508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Ct / 质量控制</a:t>
            </a:r>
          </a:p>
        </p:txBody>
      </p:sp>
      <p:sp>
        <p:nvSpPr>
          <p:cNvPr id="17" name="p8-t3"/>
          <p:cNvSpPr txBox="1"/>
          <p:nvPr/>
        </p:nvSpPr>
        <p:spPr>
          <a:xfrm>
            <a:off x="4483100" y="1955800"/>
            <a:ext cx="1384300" cy="508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多点融合</a:t>
            </a:r>
          </a:p>
        </p:txBody>
      </p:sp>
      <p:sp>
        <p:nvSpPr>
          <p:cNvPr id="18" name="p8-t4"/>
          <p:cNvSpPr txBox="1"/>
          <p:nvPr/>
        </p:nvSpPr>
        <p:spPr>
          <a:xfrm>
            <a:off x="6324600" y="1955800"/>
            <a:ext cx="1384300" cy="508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Euler / Gaussian</a:t>
            </a:r>
          </a:p>
        </p:txBody>
      </p:sp>
      <p:sp>
        <p:nvSpPr>
          <p:cNvPr id="19" name="p8-t5"/>
          <p:cNvSpPr txBox="1"/>
          <p:nvPr/>
        </p:nvSpPr>
        <p:spPr>
          <a:xfrm>
            <a:off x="8166100" y="1955800"/>
            <a:ext cx="1384300" cy="508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感染窗口</a:t>
            </a:r>
          </a:p>
        </p:txBody>
      </p:sp>
      <p:sp>
        <p:nvSpPr>
          <p:cNvPr id="20" name="p8-t6"/>
          <p:cNvSpPr txBox="1"/>
          <p:nvPr/>
        </p:nvSpPr>
        <p:spPr>
          <a:xfrm>
            <a:off x="10007600" y="1955800"/>
            <a:ext cx="1320800" cy="508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600">
                <a:solidFill>
                  <a:srgbClr val="FFFFFF"/>
                </a:solidFill>
                <a:latin typeface="LXGW Neo XiHei"/>
                <a:ea typeface="LXGW Neo XiHei"/>
                <a:cs typeface="LXGW Neo XiHei"/>
              </a:rPr>
              <a:t>3 / 5 / 7 天</a:t>
            </a:r>
          </a:p>
        </p:txBody>
      </p:sp>
      <p:sp>
        <p:nvSpPr>
          <p:cNvPr id="21" name="p8-left"/>
          <p:cNvSpPr txBox="1"/>
          <p:nvPr/>
        </p:nvSpPr>
        <p:spPr>
          <a:xfrm>
            <a:off x="762000" y="3492500"/>
            <a:ext cx="4889500" cy="19685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7172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已实现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/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Ct→浓度和判定；LOD、离群值和多点融合；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粒子滤波源估计；扩散模型 A/B；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温度、湿度、叶面湿润时间和感染窗口。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/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粒子滤波源估计至少需要两个空间观测。</a:t>
            </a:r>
          </a:p>
        </p:txBody>
      </p:sp>
      <p:sp>
        <p:nvSpPr>
          <p:cNvPr id="22" name="p8-right"/>
          <p:cNvSpPr txBox="1"/>
          <p:nvPr/>
        </p:nvSpPr>
        <p:spPr>
          <a:xfrm>
            <a:off x="6413500" y="3492500"/>
            <a:ext cx="5016500" cy="19685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7172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当前未证明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/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真实孢子采集、核酸实验、引物/探针验证、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电泳图、田间样本对照和病害准确率。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 xml:space="preserve"/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当前模型结果是模拟/离线结果，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不能直接表述为 90% 准确率或真实 3–7 天预警。</a:t>
            </a:r>
          </a:p>
        </p:txBody>
      </p:sp>
      <p:cxnSp>
        <p:nvCxnSpPr>
          <p:cNvPr id="23" name="p8-bottom-rule"/>
          <p:cNvCxnSpPr/>
          <p:nvPr/>
        </p:nvCxnSpPr>
        <p:spPr>
          <a:xfrm rot="0">
            <a:off x="762000" y="57531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24" name="p8-bottom"/>
          <p:cNvSpPr txBox="1"/>
          <p:nvPr/>
        </p:nvSpPr>
        <p:spPr>
          <a:xfrm>
            <a:off x="762000" y="5918200"/>
            <a:ext cx="10160000" cy="3175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当前重点：先拿到真实 PCR/田间数据，再做模型标定和准确率验证。</a:t>
            </a:r>
          </a:p>
        </p:txBody>
      </p:sp>
      <p:sp>
        <p:nvSpPr>
          <p:cNvPr id="25" name="p8-page"/>
          <p:cNvSpPr txBox="1"/>
          <p:nvPr/>
        </p:nvSpPr>
        <p:spPr>
          <a:xfrm>
            <a:off x="10795000" y="6248400"/>
            <a:ext cx="635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r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08 / 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9-title"/>
          <p:cNvSpPr txBox="1"/>
          <p:nvPr/>
        </p:nvSpPr>
        <p:spPr>
          <a:xfrm>
            <a:off x="736600" y="406400"/>
            <a:ext cx="10668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433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Web—车辆契约已冻结，当前是只读遥测加离线模拟</a:t>
            </a:r>
          </a:p>
        </p:txBody>
      </p:sp>
      <p:sp>
        <p:nvSpPr>
          <p:cNvPr id="2" name="p9-meta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统一内容：任务状态、事件、位姿、雷达、电池、诊断、RTK、采样器、新鲜度</a:t>
            </a:r>
          </a:p>
        </p:txBody>
      </p:sp>
      <p:cxnSp>
        <p:nvCxnSpPr>
          <p:cNvPr id="3" name="p9-rule"/>
          <p:cNvCxnSpPr/>
          <p:nvPr/>
        </p:nvCxnSpPr>
        <p:spPr>
          <a:xfrm rot="0">
            <a:off x="762000" y="1257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graphicFrame>
        <p:nvGraphicFramePr>
          <p:cNvPr id="4" name="p9-table"/>
          <p:cNvGraphicFramePr/>
          <p:nvPr/>
        </p:nvGraphicFramePr>
        <p:xfrm>
          <a:off x="762000" y="1651000"/>
          <a:ext cx="10668000" cy="2921000"/>
        </p:xfrm>
        <a:graphic>
          <a:graphicData uri="http://schemas.openxmlformats.org/drawingml/2006/table">
            <a:tbl>
              <a:tblPr firstRow="0" bandRow="0" horzBanding="0">
                <a:tableStyleId>{00000000-0000-0000-0000-000000000000}</a:tableStyleId>
              </a:tblPr>
              <a:tblGrid>
                <a:gridCol w="1920240"/>
                <a:gridCol w="2667000"/>
                <a:gridCol w="3840480"/>
                <a:gridCol w="2240280"/>
              </a:tblGrid>
              <a:tr h="5842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模式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输入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覆盖内容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真实运动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842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Mock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确定性模拟器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加载、行驶、到点、采样、返航、故障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不发布 /cmd_vel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5842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Replay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版本化回放 fixture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按时间选择任务和遥测帧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只读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rosbridge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车辆实时 ROS 话题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位姿、雷达、电池、诊断、任务、GNSS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当前只读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5842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真实闭环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现场任务 + 采样器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任务下发、执行、采样、回传、告警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尚未完成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9-test-title"/>
          <p:cNvSpPr txBox="1"/>
          <p:nvPr/>
        </p:nvSpPr>
        <p:spPr>
          <a:xfrm>
            <a:off x="762000" y="5016500"/>
            <a:ext cx="3302000" cy="35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b="1" sz="18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当前离线质量门</a:t>
            </a:r>
          </a:p>
        </p:txBody>
      </p:sp>
      <p:sp>
        <p:nvSpPr>
          <p:cNvPr id="6" name="p9-tests"/>
          <p:cNvSpPr txBox="1"/>
          <p:nvPr/>
        </p:nvSpPr>
        <p:spPr>
          <a:xfrm>
            <a:off x="762000" y="5461000"/>
            <a:ext cx="6477000" cy="685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987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车辆：91 项路线/安全 + 5 项 GNSS + 7 份 YAML；Web：41 项测试 + 2 项渲染；lint、TypeScript、构建均通过。</a:t>
            </a:r>
          </a:p>
        </p:txBody>
      </p:sp>
      <p:sp>
        <p:nvSpPr>
          <p:cNvPr id="7" name="p9-boundary"/>
          <p:cNvSpPr/>
          <p:nvPr/>
        </p:nvSpPr>
        <p:spPr>
          <a:xfrm>
            <a:off x="7937500" y="5016500"/>
            <a:ext cx="3492500" cy="1143000"/>
          </a:xfrm>
          <a:prstGeom prst="rect">
            <a:avLst/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p9-boundary-text"/>
          <p:cNvSpPr txBox="1"/>
          <p:nvPr/>
        </p:nvSpPr>
        <p:spPr>
          <a:xfrm>
            <a:off x="8128000" y="5181600"/>
            <a:ext cx="3111500" cy="7874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600">
                <a:solidFill>
                  <a:srgbClr val="FFFFFF"/>
                </a:solidFill>
                <a:latin typeface="LXGW Neo XiHei"/>
                <a:ea typeface="LXGW Neo XiHei"/>
                <a:cs typeface="LXGW Neo XiHei"/>
              </a:rPr>
              <a:t>软件停车 ≠ 物理急停</a:t>
            </a:r>
            <a:br/>
            <a:r>
              <a:rPr lang="zh-CN" b="1" sz="1600">
                <a:solidFill>
                  <a:srgbClr val="FFFFFF"/>
                </a:solidFill>
                <a:latin typeface="LXGW Neo XiHei"/>
                <a:ea typeface="LXGW Neo XiHei"/>
                <a:cs typeface="LXGW Neo XiHei"/>
              </a:rPr>
              <a:t xml:space="preserve"/>
            </a:r>
            <a:br/>
            <a:r>
              <a:rPr lang="zh-CN" b="1" sz="1600">
                <a:solidFill>
                  <a:srgbClr val="FFFFFF"/>
                </a:solidFill>
                <a:latin typeface="LXGW Neo XiHei"/>
                <a:ea typeface="LXGW Neo XiHei"/>
                <a:cs typeface="LXGW Neo XiHei"/>
              </a:rPr>
              <a:t>当前没有完整真实任务闭环</a:t>
            </a:r>
          </a:p>
        </p:txBody>
      </p:sp>
      <p:sp>
        <p:nvSpPr>
          <p:cNvPr id="9" name="p9-page"/>
          <p:cNvSpPr txBox="1"/>
          <p:nvPr/>
        </p:nvSpPr>
        <p:spPr>
          <a:xfrm>
            <a:off x="10795000" y="6248400"/>
            <a:ext cx="635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r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09 / 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10-title"/>
          <p:cNvSpPr txBox="1"/>
          <p:nvPr/>
        </p:nvSpPr>
        <p:spPr>
          <a:xfrm>
            <a:off x="736600" y="406400"/>
            <a:ext cx="10668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433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进度时间线：基础栈已完成，当前进入现场取证阶段</a:t>
            </a:r>
          </a:p>
        </p:txBody>
      </p:sp>
      <p:sp>
        <p:nvSpPr>
          <p:cNvPr id="2" name="p10-meta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主要依据：车辆主审计更新记录、CHANGELOG、工作日志和 results 目录</a:t>
            </a:r>
          </a:p>
        </p:txBody>
      </p:sp>
      <p:cxnSp>
        <p:nvCxnSpPr>
          <p:cNvPr id="3" name="p10-rule"/>
          <p:cNvCxnSpPr/>
          <p:nvPr/>
        </p:nvCxnSpPr>
        <p:spPr>
          <a:xfrm rot="0">
            <a:off x="762000" y="1257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cxnSp>
        <p:nvCxnSpPr>
          <p:cNvPr id="4" name="p10-axis"/>
          <p:cNvCxnSpPr/>
          <p:nvPr/>
        </p:nvCxnSpPr>
        <p:spPr>
          <a:xfrm rot="5400000">
            <a:off x="12700" y="3746500"/>
            <a:ext cx="4191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5" name="p10-d1"/>
          <p:cNvSpPr/>
          <p:nvPr/>
        </p:nvSpPr>
        <p:spPr>
          <a:xfrm>
            <a:off x="2006600" y="16510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" name="p10-d2"/>
          <p:cNvSpPr/>
          <p:nvPr/>
        </p:nvSpPr>
        <p:spPr>
          <a:xfrm>
            <a:off x="2006600" y="22352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p10-d3"/>
          <p:cNvSpPr/>
          <p:nvPr/>
        </p:nvSpPr>
        <p:spPr>
          <a:xfrm>
            <a:off x="2006600" y="28194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p10-d4"/>
          <p:cNvSpPr/>
          <p:nvPr/>
        </p:nvSpPr>
        <p:spPr>
          <a:xfrm>
            <a:off x="2006600" y="34036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p10-d5"/>
          <p:cNvSpPr/>
          <p:nvPr/>
        </p:nvSpPr>
        <p:spPr>
          <a:xfrm>
            <a:off x="2006600" y="39878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p10-d6"/>
          <p:cNvSpPr/>
          <p:nvPr/>
        </p:nvSpPr>
        <p:spPr>
          <a:xfrm>
            <a:off x="2006600" y="45720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p10-d7"/>
          <p:cNvSpPr/>
          <p:nvPr/>
        </p:nvSpPr>
        <p:spPr>
          <a:xfrm>
            <a:off x="2006600" y="51562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p10-d8"/>
          <p:cNvSpPr/>
          <p:nvPr/>
        </p:nvSpPr>
        <p:spPr>
          <a:xfrm>
            <a:off x="2006600" y="57404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p10-t1"/>
          <p:cNvSpPr txBox="1"/>
          <p:nvPr/>
        </p:nvSpPr>
        <p:spPr>
          <a:xfrm>
            <a:off x="762000" y="1600200"/>
            <a:ext cx="1117600" cy="3175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07/26–27</a:t>
            </a:r>
          </a:p>
        </p:txBody>
      </p:sp>
      <p:sp>
        <p:nvSpPr>
          <p:cNvPr id="14" name="p10-c1"/>
          <p:cNvSpPr txBox="1"/>
          <p:nvPr/>
        </p:nvSpPr>
        <p:spPr>
          <a:xfrm>
            <a:off x="2603500" y="1549400"/>
            <a:ext cx="8763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底盘协议、ROS 驱动、URDF、Gazebo、X3 Pro 驱动和 SLAM 初步完成</a:t>
            </a:r>
          </a:p>
        </p:txBody>
      </p:sp>
      <p:sp>
        <p:nvSpPr>
          <p:cNvPr id="15" name="p10-t2"/>
          <p:cNvSpPr txBox="1"/>
          <p:nvPr/>
        </p:nvSpPr>
        <p:spPr>
          <a:xfrm>
            <a:off x="762000" y="2184400"/>
            <a:ext cx="1117600" cy="3175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08/14–15</a:t>
            </a:r>
          </a:p>
        </p:txBody>
      </p:sp>
      <p:sp>
        <p:nvSpPr>
          <p:cNvPr id="16" name="p10-c2"/>
          <p:cNvSpPr txBox="1"/>
          <p:nvPr/>
        </p:nvSpPr>
        <p:spPr>
          <a:xfrm>
            <a:off x="2603500" y="2133600"/>
            <a:ext cx="8763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Pi 部署和夜间自动测试完成，8 小时 48 轮通过</a:t>
            </a:r>
          </a:p>
        </p:txBody>
      </p:sp>
      <p:sp>
        <p:nvSpPr>
          <p:cNvPr id="17" name="p10-t3"/>
          <p:cNvSpPr txBox="1"/>
          <p:nvPr/>
        </p:nvSpPr>
        <p:spPr>
          <a:xfrm>
            <a:off x="762000" y="2768600"/>
            <a:ext cx="1117600" cy="3175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08/20</a:t>
            </a:r>
          </a:p>
        </p:txBody>
      </p:sp>
      <p:sp>
        <p:nvSpPr>
          <p:cNvPr id="18" name="p10-c3"/>
          <p:cNvSpPr txBox="1"/>
          <p:nvPr/>
        </p:nvSpPr>
        <p:spPr>
          <a:xfrm>
            <a:off x="2603500" y="2717800"/>
            <a:ext cx="8763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X3 Pro 复验通过；failsafe 复测 1.309/1.409 s，超过 1.2 s 目标</a:t>
            </a:r>
          </a:p>
        </p:txBody>
      </p:sp>
      <p:sp>
        <p:nvSpPr>
          <p:cNvPr id="19" name="p10-t4"/>
          <p:cNvSpPr txBox="1"/>
          <p:nvPr/>
        </p:nvSpPr>
        <p:spPr>
          <a:xfrm>
            <a:off x="762000" y="3352800"/>
            <a:ext cx="1117600" cy="3175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08/26</a:t>
            </a:r>
          </a:p>
        </p:txBody>
      </p:sp>
      <p:sp>
        <p:nvSpPr>
          <p:cNvPr id="20" name="p10-c4"/>
          <p:cNvSpPr txBox="1"/>
          <p:nvPr/>
        </p:nvSpPr>
        <p:spPr>
          <a:xfrm>
            <a:off x="2603500" y="3302000"/>
            <a:ext cx="8763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阶段 C/D 车辆代码落地；小尺度实车 6 类 9 次测试记录通过</a:t>
            </a:r>
          </a:p>
        </p:txBody>
      </p:sp>
      <p:sp>
        <p:nvSpPr>
          <p:cNvPr id="21" name="p10-t5"/>
          <p:cNvSpPr txBox="1"/>
          <p:nvPr/>
        </p:nvSpPr>
        <p:spPr>
          <a:xfrm>
            <a:off x="762000" y="3937000"/>
            <a:ext cx="1117600" cy="3175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08/30</a:t>
            </a:r>
          </a:p>
        </p:txBody>
      </p:sp>
      <p:sp>
        <p:nvSpPr>
          <p:cNvPr id="22" name="p10-c5"/>
          <p:cNvSpPr txBox="1"/>
          <p:nvPr/>
        </p:nvSpPr>
        <p:spPr>
          <a:xfrm>
            <a:off x="2603500" y="3886200"/>
            <a:ext cx="8763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Web W0–W9、契约、Mock/Replay、存储和 rosbridge 适配完成；实机静止接入恢复</a:t>
            </a:r>
          </a:p>
        </p:txBody>
      </p:sp>
      <p:sp>
        <p:nvSpPr>
          <p:cNvPr id="23" name="p10-t6"/>
          <p:cNvSpPr txBox="1"/>
          <p:nvPr/>
        </p:nvSpPr>
        <p:spPr>
          <a:xfrm>
            <a:off x="762000" y="4521200"/>
            <a:ext cx="1117600" cy="3175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08/31</a:t>
            </a:r>
          </a:p>
        </p:txBody>
      </p:sp>
      <p:sp>
        <p:nvSpPr>
          <p:cNvPr id="24" name="p10-c6"/>
          <p:cNvSpPr txBox="1"/>
          <p:nvPr/>
        </p:nvSpPr>
        <p:spPr>
          <a:xfrm>
            <a:off x="2603500" y="4470400"/>
            <a:ext cx="8763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8 m × 6 m 模拟农田建图、地图保存和重复性比较通过</a:t>
            </a:r>
          </a:p>
        </p:txBody>
      </p:sp>
      <p:sp>
        <p:nvSpPr>
          <p:cNvPr id="25" name="p10-t7"/>
          <p:cNvSpPr txBox="1"/>
          <p:nvPr/>
        </p:nvSpPr>
        <p:spPr>
          <a:xfrm>
            <a:off x="762000" y="5105400"/>
            <a:ext cx="1117600" cy="3175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09/01</a:t>
            </a:r>
          </a:p>
        </p:txBody>
      </p:sp>
      <p:sp>
        <p:nvSpPr>
          <p:cNvPr id="26" name="p10-c7"/>
          <p:cNvSpPr txBox="1"/>
          <p:nvPr/>
        </p:nvSpPr>
        <p:spPr>
          <a:xfrm>
            <a:off x="2603500" y="5054600"/>
            <a:ext cx="8763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单垄场地建图和 U 形掉头成功，航向漂移约 0.2°</a:t>
            </a:r>
          </a:p>
        </p:txBody>
      </p:sp>
      <p:sp>
        <p:nvSpPr>
          <p:cNvPr id="27" name="p10-t8"/>
          <p:cNvSpPr txBox="1"/>
          <p:nvPr/>
        </p:nvSpPr>
        <p:spPr>
          <a:xfrm>
            <a:off x="762000" y="5689600"/>
            <a:ext cx="1117600" cy="3175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09/04</a:t>
            </a:r>
          </a:p>
        </p:txBody>
      </p:sp>
      <p:sp>
        <p:nvSpPr>
          <p:cNvPr id="28" name="p10-c8"/>
          <p:cNvSpPr txBox="1"/>
          <p:nvPr/>
        </p:nvSpPr>
        <p:spPr>
          <a:xfrm>
            <a:off x="2603500" y="5638800"/>
            <a:ext cx="8763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车辆运行所需代码、驱动、仿真地图和交接资料统一同步到 spore-vehicle-nav</a:t>
            </a:r>
          </a:p>
        </p:txBody>
      </p:sp>
      <p:sp>
        <p:nvSpPr>
          <p:cNvPr id="29" name="p10-page"/>
          <p:cNvSpPr txBox="1"/>
          <p:nvPr/>
        </p:nvSpPr>
        <p:spPr>
          <a:xfrm>
            <a:off x="10795000" y="6248400"/>
            <a:ext cx="635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r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10 / 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11-title"/>
          <p:cNvSpPr txBox="1"/>
          <p:nvPr/>
        </p:nvSpPr>
        <p:spPr>
          <a:xfrm>
            <a:off x="736600" y="406400"/>
            <a:ext cx="10668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433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下一阶段先补安全、RTK和现场证据，再补业务闭环</a:t>
            </a:r>
          </a:p>
        </p:txBody>
      </p:sp>
      <p:sp>
        <p:nvSpPr>
          <p:cNvPr id="2" name="p11-meta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组内需要确认：责任人、现场时间、设备采购、证据格式和代码提交节点</a:t>
            </a:r>
          </a:p>
        </p:txBody>
      </p:sp>
      <p:cxnSp>
        <p:nvCxnSpPr>
          <p:cNvPr id="3" name="p11-rule"/>
          <p:cNvCxnSpPr/>
          <p:nvPr/>
        </p:nvCxnSpPr>
        <p:spPr>
          <a:xfrm rot="0">
            <a:off x="762000" y="1257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4" name="p11-left-title"/>
          <p:cNvSpPr txBox="1"/>
          <p:nvPr/>
        </p:nvSpPr>
        <p:spPr>
          <a:xfrm>
            <a:off x="762000" y="1651000"/>
            <a:ext cx="4826000" cy="381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b="1" sz="1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P0：安全与正式证据</a:t>
            </a:r>
          </a:p>
        </p:txBody>
      </p:sp>
      <p:cxnSp>
        <p:nvCxnSpPr>
          <p:cNvPr id="5" name="p11-left-line"/>
          <p:cNvCxnSpPr/>
          <p:nvPr/>
        </p:nvCxnSpPr>
        <p:spPr>
          <a:xfrm rot="0">
            <a:off x="762000" y="2159000"/>
            <a:ext cx="4826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6" name="p11-left"/>
          <p:cNvSpPr txBox="1"/>
          <p:nvPr/>
        </p:nvSpPr>
        <p:spPr>
          <a:xfrm>
            <a:off x="762000" y="2336800"/>
            <a:ext cx="4826000" cy="3022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21357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1. 修复并复测固件 failsafe。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2. 完成物理急停和现场低速安全流程。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3. 完成多频 RTK、差分服务和天线方案。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4. 小花园正式建图、路线、重复运行和 rosbag。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5. 建立独立真值，输出定位/横向误差 P95。</a:t>
            </a:r>
          </a:p>
        </p:txBody>
      </p:sp>
      <p:sp>
        <p:nvSpPr>
          <p:cNvPr id="7" name="p11-right-title"/>
          <p:cNvSpPr txBox="1"/>
          <p:nvPr/>
        </p:nvSpPr>
        <p:spPr>
          <a:xfrm>
            <a:off x="6604000" y="1651000"/>
            <a:ext cx="4826000" cy="381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b="1" sz="1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P1/P2：功能闭环与比赛材料</a:t>
            </a:r>
          </a:p>
        </p:txBody>
      </p:sp>
      <p:cxnSp>
        <p:nvCxnSpPr>
          <p:cNvPr id="8" name="p11-right-line"/>
          <p:cNvCxnSpPr/>
          <p:nvPr/>
        </p:nvCxnSpPr>
        <p:spPr>
          <a:xfrm rot="0">
            <a:off x="6604000" y="2159000"/>
            <a:ext cx="4826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9" name="p11-right"/>
          <p:cNvSpPr txBox="1"/>
          <p:nvPr/>
        </p:nvSpPr>
        <p:spPr>
          <a:xfrm>
            <a:off x="6604000" y="2336800"/>
            <a:ext cx="4826000" cy="3022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21357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1. 冻结采样器接口和 sample_id 数据链路。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2. 打通采样—PCR—位置绑定。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3. 接入环境传感器、相机和视频。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4. Web 从 localStorage 迁移到后端存储。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5. 整理并提交 Web 当前整合代码。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6. 用真实样本验证准确率和 3–7 天预警。</a:t>
            </a:r>
          </a:p>
        </p:txBody>
      </p:sp>
      <p:sp>
        <p:nvSpPr>
          <p:cNvPr id="10" name="p11-bottom"/>
          <p:cNvSpPr/>
          <p:nvPr/>
        </p:nvSpPr>
        <p:spPr>
          <a:xfrm>
            <a:off x="762000" y="5651500"/>
            <a:ext cx="10668000" cy="533400"/>
          </a:xfrm>
          <a:prstGeom prst="rect">
            <a:avLst/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p11-bottom-text"/>
          <p:cNvSpPr txBox="1"/>
          <p:nvPr/>
        </p:nvSpPr>
        <p:spPr>
          <a:xfrm>
            <a:off x="990600" y="5765800"/>
            <a:ext cx="10160000" cy="2794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600">
                <a:solidFill>
                  <a:srgbClr val="FFFFFF"/>
                </a:solidFill>
                <a:latin typeface="LXGW Neo XiHei"/>
                <a:ea typeface="LXGW Neo XiHei"/>
                <a:cs typeface="LXGW Neo XiHei"/>
              </a:rPr>
              <a:t>近期交付物：failsafe 复测记录｜RTK 决策｜小花园 rosbag｜独立真值误差｜采样器接口</a:t>
            </a:r>
          </a:p>
        </p:txBody>
      </p:sp>
      <p:sp>
        <p:nvSpPr>
          <p:cNvPr id="12" name="p11-page"/>
          <p:cNvSpPr txBox="1"/>
          <p:nvPr/>
        </p:nvSpPr>
        <p:spPr>
          <a:xfrm>
            <a:off x="10795000" y="6248400"/>
            <a:ext cx="635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r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11 / 11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pen-pptd">
  <a:themeElements>
    <a:clrScheme name="open-pptd">
      <a:dk1>
        <a:sysClr val="windowText" lastClr="000000"/>
      </a:dk1>
      <a:lt1>
        <a:sysClr val="window" lastClr="FFFFFF"/>
      </a:lt1>
      <a:dk2>
        <a:srgbClr val="1A1A1A"/>
      </a:dk2>
      <a:lt2>
        <a:srgbClr val="FFFFFF"/>
      </a:lt2>
      <a:accent1>
        <a:srgbClr val="111111"/>
      </a:accent1>
      <a:accent2>
        <a:srgbClr val="666666"/>
      </a:accent2>
      <a:accent3>
        <a:srgbClr val="4C4C4C"/>
      </a:accent3>
      <a:accent4>
        <a:srgbClr val="858585"/>
      </a:accent4>
      <a:accent5>
        <a:srgbClr val="A6A6A6"/>
      </a:accent5>
      <a:accent6>
        <a:srgbClr val="C7C7C7"/>
      </a:accent6>
      <a:hlink>
        <a:srgbClr val="0563C1"/>
      </a:hlink>
      <a:folHlink>
        <a:srgbClr val="954F72"/>
      </a:folHlink>
    </a:clrScheme>
    <a:fontScheme name="open-pptd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ppt/theme/theme2.xml><?xml version="1.0" encoding="utf-8"?>
<a:theme xmlns:a="http://schemas.openxmlformats.org/drawingml/2006/main" name="open-pptd">
  <a:themeElements>
    <a:clrScheme name="open-pptd">
      <a:dk1>
        <a:sysClr val="windowText" lastClr="000000"/>
      </a:dk1>
      <a:lt1>
        <a:sysClr val="window" lastClr="FFFFFF"/>
      </a:lt1>
      <a:dk2>
        <a:srgbClr val="1A1A1A"/>
      </a:dk2>
      <a:lt2>
        <a:srgbClr val="FFFFFF"/>
      </a:lt2>
      <a:accent1>
        <a:srgbClr val="111111"/>
      </a:accent1>
      <a:accent2>
        <a:srgbClr val="666666"/>
      </a:accent2>
      <a:accent3>
        <a:srgbClr val="4C4C4C"/>
      </a:accent3>
      <a:accent4>
        <a:srgbClr val="858585"/>
      </a:accent4>
      <a:accent5>
        <a:srgbClr val="A6A6A6"/>
      </a:accent5>
      <a:accent6>
        <a:srgbClr val="C7C7C7"/>
      </a:accent6>
      <a:hlink>
        <a:srgbClr val="0563C1"/>
      </a:hlink>
      <a:folHlink>
        <a:srgbClr val="954F72"/>
      </a:folHlink>
    </a:clrScheme>
    <a:fontScheme name="open-pptd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1" baseType="lpstr">
      <vt:lpstr>幻灯片</vt:lpstr>
      <vt:lpstr>幻灯片</vt:lpstr>
      <vt:lpstr>幻灯片</vt:lpstr>
      <vt:lpstr>幻灯片</vt:lpstr>
      <vt:lpstr>幻灯片</vt:lpstr>
      <vt:lpstr>幻灯片</vt:lpstr>
      <vt:lpstr>幻灯片</vt:lpstr>
      <vt:lpstr>幻灯片</vt:lpstr>
      <vt:lpstr>幻灯片</vt:lpstr>
      <vt:lpstr>幻灯片</vt:lpstr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PCR 项目组内进度同步</dc:title>
  <dc:creator>open-pptd</dc:creator>
  <cp:lastModifiedBy>open-pptd</cp:lastModifiedBy>
  <dcterms:created xsi:type="dcterms:W3CDTF">2026-09-05T09:20:59.967Z</dcterms:created>
  <dcterms:modified xsi:type="dcterms:W3CDTF">2026-09-05T09:20:59.967Z</dcterms:modified>
</cp:coreProperties>
</file>