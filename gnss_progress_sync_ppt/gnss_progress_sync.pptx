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NotesMaster"/>
  </p:notesMasterIdLst>
  <p:sldIdLst>
    <p:sldId id="256" r:id="rId2"/>
    <p:sldId id="257" r:id="rId3"/>
  </p:sldIdLst>
  <p:sldSz cx="12192000" cy="6858000" type="screen16x9"/>
  <p:notesSz cx="6858000" cy="9144000"/>
  <p:embeddedFontLst>
    <p:embeddedFont>
      <p:font typeface="LXGW Neo XiHei"/>
      <p:regular r:id="rIdFont1"/>
    </p:embeddedFont>
  </p:embeddedFontLst>
  <p:defaultTextStyle>
    <a:defPPr>
      <a:defRPr lang="zh-CN">
        <a:latin typeface="Microsoft YaHei"/>
        <a:ea typeface="Microsoft YaHei"/>
        <a:cs typeface="Microsoft YaHei"/>
      </a:defRPr>
    </a:defPPr>
  </p:defaultTextStyle>
  <p:title>北斗 GNSS 模块进度同步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NotesMaster" Type="http://schemas.openxmlformats.org/officeDocument/2006/relationships/notesMaster" Target="notesMasters/notesMaster1.xml"/><Relationship Id="rIdFont1" Type="http://schemas.openxmlformats.org/officeDocument/2006/relationships/font" Target="fonts/font1.fntdata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4" name="幻灯片图像占位符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这一页同步北斗同学当前已经完成的内容。重点是软件接入和坐标接口已经提交 Git，暂时不要把它表述成室外定位精度已经验证。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这一页说明后续验证顺序。顺序不能跳过：先确认室外原始数据，再做 GNSS-SLAM 坐标标定，然后进入融合，最后用独立真值做定位精度验证。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bodyStyle>
    <p:other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g1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北斗/GNSS 模块：ROS2 接入、ENU 转换和 SLAM 接口已完成</a:t>
            </a:r>
          </a:p>
        </p:txBody>
      </p:sp>
      <p:sp>
        <p:nvSpPr>
          <p:cNvPr id="2" name="g1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当前进度：节点、launch、依赖均已完成并提交 Git</a:t>
            </a:r>
          </a:p>
        </p:txBody>
      </p:sp>
      <p:cxnSp>
        <p:nvCxnSpPr>
          <p:cNvPr id="3" name="g1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g1-flow-1"/>
          <p:cNvCxnSpPr/>
          <p:nvPr/>
        </p:nvCxnSpPr>
        <p:spPr>
          <a:xfrm rot="0">
            <a:off x="2921000" y="2368550"/>
            <a:ext cx="5715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5" name="g1-flow-2"/>
          <p:cNvCxnSpPr/>
          <p:nvPr/>
        </p:nvCxnSpPr>
        <p:spPr>
          <a:xfrm rot="0">
            <a:off x="5334000" y="2368550"/>
            <a:ext cx="5715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6" name="g1-flow-3"/>
          <p:cNvCxnSpPr/>
          <p:nvPr/>
        </p:nvCxnSpPr>
        <p:spPr>
          <a:xfrm rot="0">
            <a:off x="7747000" y="2368550"/>
            <a:ext cx="5715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7" name="g1-node-1"/>
          <p:cNvSpPr/>
          <p:nvPr/>
        </p:nvSpPr>
        <p:spPr>
          <a:xfrm>
            <a:off x="825500" y="1905000"/>
            <a:ext cx="2095500" cy="9144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g1-node-2"/>
          <p:cNvSpPr/>
          <p:nvPr/>
        </p:nvSpPr>
        <p:spPr>
          <a:xfrm>
            <a:off x="3492500" y="1905000"/>
            <a:ext cx="1841500" cy="9144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g1-node-3"/>
          <p:cNvSpPr/>
          <p:nvPr/>
        </p:nvSpPr>
        <p:spPr>
          <a:xfrm>
            <a:off x="5905500" y="1905000"/>
            <a:ext cx="1841500" cy="9144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g1-node-4"/>
          <p:cNvSpPr/>
          <p:nvPr/>
        </p:nvSpPr>
        <p:spPr>
          <a:xfrm>
            <a:off x="8318500" y="1905000"/>
            <a:ext cx="3048000" cy="9144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g1-text-1"/>
          <p:cNvSpPr txBox="1"/>
          <p:nvPr/>
        </p:nvSpPr>
        <p:spPr>
          <a:xfrm>
            <a:off x="952500" y="2108200"/>
            <a:ext cx="18415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987"/>
              </a:lnSpc>
            </a:pPr>
            <a:r>
              <a:rPr lang="zh-CN" b="1" sz="15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ATGM336H</a:t>
            </a:r>
          </a:p>
        </p:txBody>
      </p:sp>
      <p:sp>
        <p:nvSpPr>
          <p:cNvPr id="12" name="g1-text-2"/>
          <p:cNvSpPr txBox="1"/>
          <p:nvPr/>
        </p:nvSpPr>
        <p:spPr>
          <a:xfrm>
            <a:off x="3619500" y="2108200"/>
            <a:ext cx="15875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ROS2 节点</a:t>
            </a:r>
          </a:p>
        </p:txBody>
      </p:sp>
      <p:sp>
        <p:nvSpPr>
          <p:cNvPr id="13" name="g1-text-3"/>
          <p:cNvSpPr txBox="1"/>
          <p:nvPr/>
        </p:nvSpPr>
        <p:spPr>
          <a:xfrm>
            <a:off x="6032500" y="2108200"/>
            <a:ext cx="15875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WGS84 → ENU</a:t>
            </a:r>
          </a:p>
        </p:txBody>
      </p:sp>
      <p:sp>
        <p:nvSpPr>
          <p:cNvPr id="14" name="g1-text-4"/>
          <p:cNvSpPr txBox="1"/>
          <p:nvPr/>
        </p:nvSpPr>
        <p:spPr>
          <a:xfrm>
            <a:off x="8509000" y="2108200"/>
            <a:ext cx="2667000" cy="508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SLAM map 坐标接口</a:t>
            </a:r>
          </a:p>
        </p:txBody>
      </p:sp>
      <p:sp>
        <p:nvSpPr>
          <p:cNvPr id="15" name="g1-left-title"/>
          <p:cNvSpPr txBox="1"/>
          <p:nvPr/>
        </p:nvSpPr>
        <p:spPr>
          <a:xfrm>
            <a:off x="825500" y="3619500"/>
            <a:ext cx="33020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8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已完成的技术内容</a:t>
            </a:r>
          </a:p>
        </p:txBody>
      </p:sp>
      <p:cxnSp>
        <p:nvCxnSpPr>
          <p:cNvPr id="16" name="g1-left-line"/>
          <p:cNvCxnSpPr/>
          <p:nvPr/>
        </p:nvCxnSpPr>
        <p:spPr>
          <a:xfrm rot="0">
            <a:off x="825500" y="4102100"/>
            <a:ext cx="4953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17" name="g1-left"/>
          <p:cNvSpPr txBox="1"/>
          <p:nvPr/>
        </p:nvSpPr>
        <p:spPr>
          <a:xfrm>
            <a:off x="825500" y="4292600"/>
            <a:ext cx="4953000" cy="1473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21357"/>
              </a:lnSpc>
            </a:pPr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1. ATGM336H 北斗模块完成 ROS2 接入。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2. 完成地理坐标到局部 ENU 坐标转换。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3. 完成 ENU 坐标与 SLAM map 坐标系的接口适配。</a:t>
            </a:r>
            <a:br/>
            <a:r>
              <a:rPr lang="zh-CN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4. 相关节点、launch 和依赖均已完成。</a:t>
            </a:r>
          </a:p>
        </p:txBody>
      </p:sp>
      <p:sp>
        <p:nvSpPr>
          <p:cNvPr id="18" name="g1-right-title"/>
          <p:cNvSpPr txBox="1"/>
          <p:nvPr/>
        </p:nvSpPr>
        <p:spPr>
          <a:xfrm>
            <a:off x="6667500" y="3619500"/>
            <a:ext cx="3302000" cy="35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8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当前交付状态</a:t>
            </a:r>
          </a:p>
        </p:txBody>
      </p:sp>
      <p:cxnSp>
        <p:nvCxnSpPr>
          <p:cNvPr id="19" name="g1-right-line"/>
          <p:cNvCxnSpPr/>
          <p:nvPr/>
        </p:nvCxnSpPr>
        <p:spPr>
          <a:xfrm rot="0">
            <a:off x="6667500" y="4102100"/>
            <a:ext cx="4699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20" name="g1-right-metric"/>
          <p:cNvSpPr txBox="1"/>
          <p:nvPr/>
        </p:nvSpPr>
        <p:spPr>
          <a:xfrm>
            <a:off x="6667500" y="4318000"/>
            <a:ext cx="4699000" cy="609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2064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ROS2 / ENU / map</a:t>
            </a:r>
          </a:p>
        </p:txBody>
      </p:sp>
      <p:sp>
        <p:nvSpPr>
          <p:cNvPr id="21" name="g1-right-note"/>
          <p:cNvSpPr txBox="1"/>
          <p:nvPr/>
        </p:nvSpPr>
        <p:spPr>
          <a:xfrm>
            <a:off x="6667500" y="5016500"/>
            <a:ext cx="4699000" cy="787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软件接口阶段已完成并提交 Git。</a:t>
            </a:r>
            <a:br/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下一阶段转入室外实测和坐标标定。</a:t>
            </a:r>
          </a:p>
        </p:txBody>
      </p:sp>
      <p:cxnSp>
        <p:nvCxnSpPr>
          <p:cNvPr id="22" name="g1-bottom-rule"/>
          <p:cNvCxnSpPr/>
          <p:nvPr/>
        </p:nvCxnSpPr>
        <p:spPr>
          <a:xfrm rot="0">
            <a:off x="762000" y="6083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23" name="g1-bottom"/>
          <p:cNvSpPr txBox="1"/>
          <p:nvPr/>
        </p:nvSpPr>
        <p:spPr>
          <a:xfrm>
            <a:off x="762000" y="6197600"/>
            <a:ext cx="9652000" cy="3175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当前边界：已完成软件适配，不等同于室外定位精度或 RTK 指标已验证。</a:t>
            </a:r>
          </a:p>
        </p:txBody>
      </p:sp>
      <p:sp>
        <p:nvSpPr>
          <p:cNvPr id="24" name="g1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01 / 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g2-title"/>
          <p:cNvSpPr txBox="1"/>
          <p:nvPr/>
        </p:nvSpPr>
        <p:spPr>
          <a:xfrm>
            <a:off x="736600" y="406400"/>
            <a:ext cx="10668000" cy="431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433"/>
              </a:lnSpc>
            </a:pPr>
            <a:r>
              <a:rPr lang="zh-CN" b="1" sz="29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下一步验证链路：室外实测 → 坐标标定 → 多传感器融合 → 精度验证</a:t>
            </a:r>
          </a:p>
        </p:txBody>
      </p:sp>
      <p:sp>
        <p:nvSpPr>
          <p:cNvPr id="2" name="g2-meta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目标：把已完成的软件接口转化为可复现的现场数据和定位误差证据</a:t>
            </a:r>
          </a:p>
        </p:txBody>
      </p:sp>
      <p:cxnSp>
        <p:nvCxnSpPr>
          <p:cNvPr id="3" name="g2-rule"/>
          <p:cNvCxnSpPr/>
          <p:nvPr/>
        </p:nvCxnSpPr>
        <p:spPr>
          <a:xfrm rot="0">
            <a:off x="762000" y="1257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cxnSp>
        <p:nvCxnSpPr>
          <p:cNvPr id="4" name="g2-l1"/>
          <p:cNvCxnSpPr/>
          <p:nvPr/>
        </p:nvCxnSpPr>
        <p:spPr>
          <a:xfrm rot="0">
            <a:off x="3111500" y="2165350"/>
            <a:ext cx="381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5" name="g2-l2"/>
          <p:cNvCxnSpPr/>
          <p:nvPr/>
        </p:nvCxnSpPr>
        <p:spPr>
          <a:xfrm rot="0">
            <a:off x="5715000" y="2165350"/>
            <a:ext cx="381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6" name="g2-l3"/>
          <p:cNvCxnSpPr/>
          <p:nvPr/>
        </p:nvCxnSpPr>
        <p:spPr>
          <a:xfrm rot="0">
            <a:off x="8318500" y="2165350"/>
            <a:ext cx="381000" cy="0"/>
          </a:xfrm>
          <a:prstGeom prst="straightConnector1"/>
          <a:ln w="2540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7" name="g2-n1"/>
          <p:cNvSpPr/>
          <p:nvPr/>
        </p:nvSpPr>
        <p:spPr>
          <a:xfrm>
            <a:off x="762000" y="1689100"/>
            <a:ext cx="2349500" cy="9525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g2-n2"/>
          <p:cNvSpPr/>
          <p:nvPr/>
        </p:nvSpPr>
        <p:spPr>
          <a:xfrm>
            <a:off x="3492500" y="1689100"/>
            <a:ext cx="2222500" cy="952500"/>
          </a:xfrm>
          <a:prstGeom prst="rect">
            <a:avLst/>
          </a:prstGeom>
          <a:solidFill>
            <a:srgbClr val="E7E7E7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g2-n3"/>
          <p:cNvSpPr/>
          <p:nvPr/>
        </p:nvSpPr>
        <p:spPr>
          <a:xfrm>
            <a:off x="6096000" y="1689100"/>
            <a:ext cx="2222500" cy="952500"/>
          </a:xfrm>
          <a:prstGeom prst="rect">
            <a:avLst/>
          </a:prstGeom>
          <a:solidFill>
            <a:srgbClr val="F3F3F3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g2-n4"/>
          <p:cNvSpPr/>
          <p:nvPr/>
        </p:nvSpPr>
        <p:spPr>
          <a:xfrm>
            <a:off x="8699500" y="1689100"/>
            <a:ext cx="2730500" cy="952500"/>
          </a:xfrm>
          <a:prstGeom prst="rect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g2-t1"/>
          <p:cNvSpPr txBox="1"/>
          <p:nvPr/>
        </p:nvSpPr>
        <p:spPr>
          <a:xfrm>
            <a:off x="889000" y="1866900"/>
            <a:ext cx="20955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1 室外实测</a:t>
            </a:r>
          </a:p>
        </p:txBody>
      </p:sp>
      <p:sp>
        <p:nvSpPr>
          <p:cNvPr id="12" name="g2-t2"/>
          <p:cNvSpPr txBox="1"/>
          <p:nvPr/>
        </p:nvSpPr>
        <p:spPr>
          <a:xfrm>
            <a:off x="3619500" y="1866900"/>
            <a:ext cx="19685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2 GNSS-SLAM 坐标标定</a:t>
            </a:r>
          </a:p>
        </p:txBody>
      </p:sp>
      <p:sp>
        <p:nvSpPr>
          <p:cNvPr id="13" name="g2-t3"/>
          <p:cNvSpPr txBox="1"/>
          <p:nvPr/>
        </p:nvSpPr>
        <p:spPr>
          <a:xfrm>
            <a:off x="6223000" y="1866900"/>
            <a:ext cx="19685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3 多传感器融合</a:t>
            </a:r>
          </a:p>
        </p:txBody>
      </p:sp>
      <p:sp>
        <p:nvSpPr>
          <p:cNvPr id="14" name="g2-t4"/>
          <p:cNvSpPr txBox="1"/>
          <p:nvPr/>
        </p:nvSpPr>
        <p:spPr>
          <a:xfrm>
            <a:off x="8826500" y="1866900"/>
            <a:ext cx="24765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4618"/>
              </a:lnSpc>
            </a:pPr>
            <a:r>
              <a:rPr lang="zh-CN" b="1" sz="1600">
                <a:solidFill>
                  <a:srgbClr val="FFFFFF"/>
                </a:solidFill>
                <a:latin typeface="LXGW Neo XiHei"/>
                <a:ea typeface="LXGW Neo XiHei"/>
                <a:cs typeface="LXGW Neo XiHei"/>
              </a:rPr>
              <a:t>4 实车定位精度验证</a:t>
            </a:r>
          </a:p>
        </p:txBody>
      </p:sp>
      <p:graphicFrame>
        <p:nvGraphicFramePr>
          <p:cNvPr id="15" name="g2-table"/>
          <p:cNvGraphicFramePr/>
          <p:nvPr/>
        </p:nvGraphicFramePr>
        <p:xfrm>
          <a:off x="762000" y="3238500"/>
          <a:ext cx="10668000" cy="2603500"/>
        </p:xfrm>
        <a:graphic>
          <a:graphicData uri="http://schemas.openxmlformats.org/drawingml/2006/table">
            <a:tbl>
              <a:tblPr firstRow="0" bandRow="0" horzBanding="0">
                <a:tableStyleId>{00000000-0000-0000-0000-000000000000}</a:tableStyleId>
              </a:tblPr>
              <a:tblGrid>
                <a:gridCol w="2346960"/>
                <a:gridCol w="5013960"/>
                <a:gridCol w="3307080"/>
              </a:tblGrid>
              <a:tr h="5207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阶段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主要检查内容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b="1" sz="1200">
                          <a:solidFill>
                            <a:srgbClr val="FFFFFF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阶段输出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207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室外实测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卫星信号、输出频率、时间戳、连续性和原始数据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原始日志 / rosbag / 环境记录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5207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坐标标定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ENU 原点、航向、GNSS↔SLAM map 的平移和旋转关系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坐标变换参数 / 标定记录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多传感器融合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GNSS + 轮速 + IMU + SLAM 的融合方案和降级逻辑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融合位姿 / 质量状态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5207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精度验证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使用独立真值对比定位误差、稳定性和异常点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83694"/>
                        </a:lnSpc>
                      </a:pPr>
                      <a:r>
                        <a:rPr lang="zh-CN" sz="1200">
                          <a:solidFill>
                            <a:schemeClr val="dk2"/>
                          </a:solidFill>
                          <a:latin typeface="LXGW Neo XiHei"/>
                          <a:ea typeface="LXGW Neo XiHei"/>
                          <a:cs typeface="LXGW Neo XiHei"/>
                        </a:rPr>
                        <a:t>误差报告 / 是否满足目标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6D6D6"/>
                      </a:solidFill>
                    </a:lnL>
                    <a:lnR w="12700" cap="flat" cmpd="sng" algn="ctr">
                      <a:solidFill>
                        <a:srgbClr val="D6D6D6"/>
                      </a:solidFill>
                    </a:lnR>
                    <a:lnT w="12700" cap="flat" cmpd="sng" algn="ctr">
                      <a:solidFill>
                        <a:srgbClr val="D6D6D6"/>
                      </a:solidFill>
                    </a:lnT>
                    <a:lnB w="12700" cap="flat" cmpd="sng" algn="ctr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6" name="g2-bottom-rule"/>
          <p:cNvCxnSpPr/>
          <p:nvPr/>
        </p:nvCxnSpPr>
        <p:spPr>
          <a:xfrm rot="0">
            <a:off x="762000" y="6083300"/>
            <a:ext cx="106680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17" name="g2-bottom"/>
          <p:cNvSpPr txBox="1"/>
          <p:nvPr/>
        </p:nvSpPr>
        <p:spPr>
          <a:xfrm>
            <a:off x="762000" y="6197600"/>
            <a:ext cx="9652000" cy="3175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4618"/>
              </a:lnSpc>
            </a:pPr>
            <a:r>
              <a:rPr lang="zh-CN" b="1" sz="1200">
                <a:solidFill>
                  <a:schemeClr val="dk2"/>
                </a:solidFill>
                <a:latin typeface="LXGW Neo XiHei"/>
                <a:ea typeface="LXGW Neo XiHei"/>
                <a:cs typeface="LXGW Neo XiHei"/>
              </a:rPr>
              <a:t>当前结论：软件接入已完成；室外实测、标定、融合和精度数据是下一阶段的验收依据。</a:t>
            </a:r>
          </a:p>
        </p:txBody>
      </p:sp>
      <p:sp>
        <p:nvSpPr>
          <p:cNvPr id="18" name="g2-page"/>
          <p:cNvSpPr txBox="1"/>
          <p:nvPr/>
        </p:nvSpPr>
        <p:spPr>
          <a:xfrm>
            <a:off x="10795000" y="6248400"/>
            <a:ext cx="635000" cy="228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r">
              <a:lnSpc>
                <a:spcPct val="108803"/>
              </a:lnSpc>
            </a:pPr>
            <a:r>
              <a:rPr lang="zh-CN" sz="1200">
                <a:solidFill>
                  <a:srgbClr val="6B6B6B"/>
                </a:solidFill>
                <a:latin typeface="LXGW Neo XiHei"/>
                <a:ea typeface="LXGW Neo XiHei"/>
                <a:cs typeface="LXGW Neo XiHei"/>
              </a:rPr>
              <a:t>02 / 02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A1A1A"/>
      </a:dk2>
      <a:lt2>
        <a:srgbClr val="FFFFFF"/>
      </a:lt2>
      <a:accent1>
        <a:srgbClr val="111111"/>
      </a:accent1>
      <a:accent2>
        <a:srgbClr val="666666"/>
      </a:accent2>
      <a:accent3>
        <a:srgbClr val="4C4C4C"/>
      </a:accent3>
      <a:accent4>
        <a:srgbClr val="858585"/>
      </a:accent4>
      <a:accent5>
        <a:srgbClr val="A6A6A6"/>
      </a:accent5>
      <a:accent6>
        <a:srgbClr val="C7C7C7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ppt/theme/theme2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A1A1A"/>
      </a:dk2>
      <a:lt2>
        <a:srgbClr val="FFFFFF"/>
      </a:lt2>
      <a:accent1>
        <a:srgbClr val="111111"/>
      </a:accent1>
      <a:accent2>
        <a:srgbClr val="666666"/>
      </a:accent2>
      <a:accent3>
        <a:srgbClr val="4C4C4C"/>
      </a:accent3>
      <a:accent4>
        <a:srgbClr val="858585"/>
      </a:accent4>
      <a:accent5>
        <a:srgbClr val="A6A6A6"/>
      </a:accent5>
      <a:accent6>
        <a:srgbClr val="C7C7C7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2" baseType="lpstr">
      <vt:lpstr>幻灯片</vt:lpstr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北斗 GNSS 模块进度同步</dc:title>
  <dc:creator>open-pptd</dc:creator>
  <cp:lastModifiedBy>open-pptd</cp:lastModifiedBy>
  <dcterms:created xsi:type="dcterms:W3CDTF">2026-09-05T12:37:24.092Z</dcterms:created>
  <dcterms:modified xsi:type="dcterms:W3CDTF">2026-09-05T12:37:24.092Z</dcterms:modified>
</cp:coreProperties>
</file>